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ileron" panose="020B0604020202020204" charset="0"/>
      <p:regular r:id="rId11"/>
    </p:embeddedFont>
    <p:embeddedFont>
      <p:font typeface="Canva Sans" panose="020B0604020202020204" charset="0"/>
      <p:regular r:id="rId12"/>
    </p:embeddedFont>
    <p:embeddedFont>
      <p:font typeface="Canva Sans Bold Italics" panose="020B0604020202020204" charset="0"/>
      <p:regular r:id="rId13"/>
    </p:embeddedFont>
    <p:embeddedFont>
      <p:font typeface="Horizon" panose="020B0604020202020204" charset="0"/>
      <p:regular r:id="rId14"/>
    </p:embeddedFont>
    <p:embeddedFont>
      <p:font typeface="Open Sauce Bold" panose="020B0604020202020204" charset="0"/>
      <p:regular r:id="rId15"/>
    </p:embeddedFont>
    <p:embeddedFont>
      <p:font typeface="Open Sauce Light" panose="020B0604020202020204" charset="0"/>
      <p:regular r:id="rId16"/>
    </p:embeddedFont>
    <p:embeddedFont>
      <p:font typeface="Press Start 2P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805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CAABF-69DB-489C-911E-335CF8D33E5F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E94DD2-C97B-4F4E-8D69-125DD5041F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463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E94DD2-C97B-4F4E-8D69-125DD5041F8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29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10287000"/>
                </a:moveTo>
                <a:lnTo>
                  <a:pt x="18288000" y="10287000"/>
                </a:lnTo>
                <a:lnTo>
                  <a:pt x="18288000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4117" y="333375"/>
            <a:ext cx="17903883" cy="19818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8746"/>
              </a:lnSpc>
            </a:pPr>
            <a:endParaRPr/>
          </a:p>
          <a:p>
            <a:pPr algn="l">
              <a:lnSpc>
                <a:spcPts val="6836"/>
              </a:lnSpc>
            </a:pPr>
            <a:r>
              <a:rPr lang="en-US" sz="7949" spc="-373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Design and Simulation of an 8-Bit Arithmetic Logic Unit (ALU)</a:t>
            </a:r>
          </a:p>
          <a:p>
            <a:pPr algn="l">
              <a:lnSpc>
                <a:spcPts val="21274"/>
              </a:lnSpc>
            </a:pPr>
            <a:endParaRPr lang="en-US" sz="7949" spc="-373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l">
              <a:lnSpc>
                <a:spcPts val="21274"/>
              </a:lnSpc>
            </a:pPr>
            <a:endParaRPr lang="en-US" sz="7949" spc="-373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l">
              <a:lnSpc>
                <a:spcPts val="21274"/>
              </a:lnSpc>
            </a:pPr>
            <a:endParaRPr lang="en-US" sz="7949" spc="-373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l">
              <a:lnSpc>
                <a:spcPts val="18950"/>
              </a:lnSpc>
            </a:pPr>
            <a:endParaRPr lang="en-US" sz="7949" spc="-373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grpSp>
        <p:nvGrpSpPr>
          <p:cNvPr id="4" name="Group 4"/>
          <p:cNvGrpSpPr/>
          <p:nvPr/>
        </p:nvGrpSpPr>
        <p:grpSpPr>
          <a:xfrm rot="566727">
            <a:off x="10895260" y="-4368833"/>
            <a:ext cx="11215742" cy="1121574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66727">
            <a:off x="12737741" y="-2526351"/>
            <a:ext cx="7530780" cy="753078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40399" y="848663"/>
            <a:ext cx="5779094" cy="8736633"/>
            <a:chOff x="0" y="0"/>
            <a:chExt cx="895333" cy="13535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5333" cy="1353533"/>
            </a:xfrm>
            <a:custGeom>
              <a:avLst/>
              <a:gdLst/>
              <a:ahLst/>
              <a:cxnLst/>
              <a:rect l="l" t="t" r="r" b="b"/>
              <a:pathLst>
                <a:path w="895333" h="1353533">
                  <a:moveTo>
                    <a:pt x="53586" y="0"/>
                  </a:moveTo>
                  <a:lnTo>
                    <a:pt x="841747" y="0"/>
                  </a:lnTo>
                  <a:cubicBezTo>
                    <a:pt x="855959" y="0"/>
                    <a:pt x="869589" y="5646"/>
                    <a:pt x="879638" y="15695"/>
                  </a:cubicBezTo>
                  <a:cubicBezTo>
                    <a:pt x="889687" y="25744"/>
                    <a:pt x="895333" y="39374"/>
                    <a:pt x="895333" y="53586"/>
                  </a:cubicBezTo>
                  <a:lnTo>
                    <a:pt x="895333" y="1299947"/>
                  </a:lnTo>
                  <a:cubicBezTo>
                    <a:pt x="895333" y="1314159"/>
                    <a:pt x="889687" y="1327789"/>
                    <a:pt x="879638" y="1337838"/>
                  </a:cubicBezTo>
                  <a:cubicBezTo>
                    <a:pt x="869589" y="1347887"/>
                    <a:pt x="855959" y="1353533"/>
                    <a:pt x="841747" y="1353533"/>
                  </a:cubicBezTo>
                  <a:lnTo>
                    <a:pt x="53586" y="1353533"/>
                  </a:lnTo>
                  <a:cubicBezTo>
                    <a:pt x="39374" y="1353533"/>
                    <a:pt x="25744" y="1347887"/>
                    <a:pt x="15695" y="1337838"/>
                  </a:cubicBezTo>
                  <a:cubicBezTo>
                    <a:pt x="5646" y="1327789"/>
                    <a:pt x="0" y="1314159"/>
                    <a:pt x="0" y="1299947"/>
                  </a:cubicBezTo>
                  <a:lnTo>
                    <a:pt x="0" y="53586"/>
                  </a:lnTo>
                  <a:cubicBezTo>
                    <a:pt x="0" y="39374"/>
                    <a:pt x="5646" y="25744"/>
                    <a:pt x="15695" y="15695"/>
                  </a:cubicBezTo>
                  <a:cubicBezTo>
                    <a:pt x="25744" y="5646"/>
                    <a:pt x="39374" y="0"/>
                    <a:pt x="53586" y="0"/>
                  </a:cubicBezTo>
                  <a:close/>
                </a:path>
              </a:pathLst>
            </a:custGeom>
            <a:blipFill>
              <a:blip r:embed="rId3"/>
              <a:stretch>
                <a:fillRect l="-392" r="-392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5" name="Freeform 5"/>
          <p:cNvSpPr/>
          <p:nvPr/>
        </p:nvSpPr>
        <p:spPr>
          <a:xfrm rot="-5400000" flipV="1">
            <a:off x="2956852" y="6991105"/>
            <a:ext cx="4029852" cy="798643"/>
          </a:xfrm>
          <a:custGeom>
            <a:avLst/>
            <a:gdLst/>
            <a:ahLst/>
            <a:cxnLst/>
            <a:rect l="l" t="t" r="r" b="b"/>
            <a:pathLst>
              <a:path w="4029852" h="798643">
                <a:moveTo>
                  <a:pt x="0" y="798643"/>
                </a:moveTo>
                <a:lnTo>
                  <a:pt x="4029852" y="798643"/>
                </a:lnTo>
                <a:lnTo>
                  <a:pt x="4029852" y="0"/>
                </a:lnTo>
                <a:lnTo>
                  <a:pt x="0" y="0"/>
                </a:lnTo>
                <a:lnTo>
                  <a:pt x="0" y="798643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8948515" y="6991105"/>
            <a:ext cx="4029852" cy="798643"/>
          </a:xfrm>
          <a:custGeom>
            <a:avLst/>
            <a:gdLst/>
            <a:ahLst/>
            <a:cxnLst/>
            <a:rect l="l" t="t" r="r" b="b"/>
            <a:pathLst>
              <a:path w="4029852" h="798643">
                <a:moveTo>
                  <a:pt x="0" y="798643"/>
                </a:moveTo>
                <a:lnTo>
                  <a:pt x="4029852" y="798643"/>
                </a:lnTo>
                <a:lnTo>
                  <a:pt x="4029852" y="0"/>
                </a:lnTo>
                <a:lnTo>
                  <a:pt x="0" y="0"/>
                </a:lnTo>
                <a:lnTo>
                  <a:pt x="0" y="798643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V="1">
            <a:off x="4682729" y="5151555"/>
            <a:ext cx="5725382" cy="1134667"/>
          </a:xfrm>
          <a:custGeom>
            <a:avLst/>
            <a:gdLst/>
            <a:ahLst/>
            <a:cxnLst/>
            <a:rect l="l" t="t" r="r" b="b"/>
            <a:pathLst>
              <a:path w="5725382" h="1134667">
                <a:moveTo>
                  <a:pt x="0" y="1134666"/>
                </a:moveTo>
                <a:lnTo>
                  <a:pt x="5725382" y="1134666"/>
                </a:lnTo>
                <a:lnTo>
                  <a:pt x="5725382" y="0"/>
                </a:lnTo>
                <a:lnTo>
                  <a:pt x="0" y="0"/>
                </a:lnTo>
                <a:lnTo>
                  <a:pt x="0" y="1134666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 flipV="1">
            <a:off x="10674391" y="5134481"/>
            <a:ext cx="6776142" cy="1342908"/>
          </a:xfrm>
          <a:custGeom>
            <a:avLst/>
            <a:gdLst/>
            <a:ahLst/>
            <a:cxnLst/>
            <a:rect l="l" t="t" r="r" b="b"/>
            <a:pathLst>
              <a:path w="6776142" h="1342908">
                <a:moveTo>
                  <a:pt x="0" y="1342908"/>
                </a:moveTo>
                <a:lnTo>
                  <a:pt x="6776142" y="1342908"/>
                </a:lnTo>
                <a:lnTo>
                  <a:pt x="6776142" y="0"/>
                </a:lnTo>
                <a:lnTo>
                  <a:pt x="0" y="0"/>
                </a:lnTo>
                <a:lnTo>
                  <a:pt x="0" y="1342908"/>
                </a:lnTo>
                <a:close/>
              </a:path>
            </a:pathLst>
          </a:custGeom>
          <a:blipFill>
            <a:blip r:embed="rId4">
              <a:alphaModFix amt="56000"/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5460491" y="5805935"/>
            <a:ext cx="5508808" cy="3819580"/>
            <a:chOff x="0" y="0"/>
            <a:chExt cx="2073530" cy="1437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73530" cy="1437700"/>
            </a:xfrm>
            <a:custGeom>
              <a:avLst/>
              <a:gdLst/>
              <a:ahLst/>
              <a:cxnLst/>
              <a:rect l="l" t="t" r="r" b="b"/>
              <a:pathLst>
                <a:path w="2073530" h="1437700">
                  <a:moveTo>
                    <a:pt x="71674" y="0"/>
                  </a:moveTo>
                  <a:lnTo>
                    <a:pt x="2001856" y="0"/>
                  </a:lnTo>
                  <a:cubicBezTo>
                    <a:pt x="2020865" y="0"/>
                    <a:pt x="2039096" y="7551"/>
                    <a:pt x="2052537" y="20993"/>
                  </a:cubicBezTo>
                  <a:cubicBezTo>
                    <a:pt x="2065979" y="34434"/>
                    <a:pt x="2073530" y="52665"/>
                    <a:pt x="2073530" y="71674"/>
                  </a:cubicBezTo>
                  <a:lnTo>
                    <a:pt x="2073530" y="1366026"/>
                  </a:lnTo>
                  <a:cubicBezTo>
                    <a:pt x="2073530" y="1385035"/>
                    <a:pt x="2065979" y="1403266"/>
                    <a:pt x="2052537" y="1416707"/>
                  </a:cubicBezTo>
                  <a:cubicBezTo>
                    <a:pt x="2039096" y="1430149"/>
                    <a:pt x="2020865" y="1437700"/>
                    <a:pt x="2001856" y="1437700"/>
                  </a:cubicBezTo>
                  <a:lnTo>
                    <a:pt x="71674" y="1437700"/>
                  </a:lnTo>
                  <a:cubicBezTo>
                    <a:pt x="52665" y="1437700"/>
                    <a:pt x="34434" y="1430149"/>
                    <a:pt x="20993" y="1416707"/>
                  </a:cubicBezTo>
                  <a:cubicBezTo>
                    <a:pt x="7551" y="1403266"/>
                    <a:pt x="0" y="1385035"/>
                    <a:pt x="0" y="1366026"/>
                  </a:cubicBezTo>
                  <a:lnTo>
                    <a:pt x="0" y="71674"/>
                  </a:lnTo>
                  <a:cubicBezTo>
                    <a:pt x="0" y="52665"/>
                    <a:pt x="7551" y="34434"/>
                    <a:pt x="20993" y="20993"/>
                  </a:cubicBezTo>
                  <a:cubicBezTo>
                    <a:pt x="34434" y="7551"/>
                    <a:pt x="52665" y="0"/>
                    <a:pt x="7167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0000"/>
                  </a:srgbClr>
                </a:gs>
                <a:gs pos="100000">
                  <a:srgbClr val="DBD8D8">
                    <a:alpha val="100000"/>
                  </a:srgbClr>
                </a:gs>
              </a:gsLst>
              <a:lin ang="5400000"/>
            </a:gradFill>
            <a:ln w="19050" cap="rnd">
              <a:gradFill>
                <a:gsLst>
                  <a:gs pos="0">
                    <a:srgbClr val="C55CD1">
                      <a:alpha val="100000"/>
                    </a:srgbClr>
                  </a:gs>
                  <a:gs pos="100000">
                    <a:srgbClr val="923ACD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85725"/>
              <a:ext cx="2073530" cy="135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117617" y="5765716"/>
            <a:ext cx="6766590" cy="3819580"/>
            <a:chOff x="0" y="0"/>
            <a:chExt cx="2546962" cy="1437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46962" cy="1437700"/>
            </a:xfrm>
            <a:custGeom>
              <a:avLst/>
              <a:gdLst/>
              <a:ahLst/>
              <a:cxnLst/>
              <a:rect l="l" t="t" r="r" b="b"/>
              <a:pathLst>
                <a:path w="2546962" h="1437700">
                  <a:moveTo>
                    <a:pt x="58351" y="0"/>
                  </a:moveTo>
                  <a:lnTo>
                    <a:pt x="2488611" y="0"/>
                  </a:lnTo>
                  <a:cubicBezTo>
                    <a:pt x="2520837" y="0"/>
                    <a:pt x="2546962" y="26125"/>
                    <a:pt x="2546962" y="58351"/>
                  </a:cubicBezTo>
                  <a:lnTo>
                    <a:pt x="2546962" y="1379349"/>
                  </a:lnTo>
                  <a:cubicBezTo>
                    <a:pt x="2546962" y="1394825"/>
                    <a:pt x="2540814" y="1409666"/>
                    <a:pt x="2529872" y="1420609"/>
                  </a:cubicBezTo>
                  <a:cubicBezTo>
                    <a:pt x="2518929" y="1431552"/>
                    <a:pt x="2504087" y="1437700"/>
                    <a:pt x="2488611" y="1437700"/>
                  </a:cubicBezTo>
                  <a:lnTo>
                    <a:pt x="58351" y="1437700"/>
                  </a:lnTo>
                  <a:cubicBezTo>
                    <a:pt x="42875" y="1437700"/>
                    <a:pt x="28034" y="1431552"/>
                    <a:pt x="17091" y="1420609"/>
                  </a:cubicBezTo>
                  <a:cubicBezTo>
                    <a:pt x="6148" y="1409666"/>
                    <a:pt x="0" y="1394825"/>
                    <a:pt x="0" y="1379349"/>
                  </a:cubicBezTo>
                  <a:lnTo>
                    <a:pt x="0" y="58351"/>
                  </a:lnTo>
                  <a:cubicBezTo>
                    <a:pt x="0" y="42875"/>
                    <a:pt x="6148" y="28034"/>
                    <a:pt x="17091" y="17091"/>
                  </a:cubicBezTo>
                  <a:cubicBezTo>
                    <a:pt x="28034" y="6148"/>
                    <a:pt x="42875" y="0"/>
                    <a:pt x="5835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C55CD1">
                    <a:alpha val="100000"/>
                  </a:srgbClr>
                </a:gs>
                <a:gs pos="100000">
                  <a:srgbClr val="923ACD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85725"/>
              <a:ext cx="2546962" cy="135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-9278497">
            <a:off x="12218214" y="-6527792"/>
            <a:ext cx="9966661" cy="996666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-9278497">
            <a:off x="14620041" y="-3792460"/>
            <a:ext cx="5213104" cy="5213104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155"/>
                  </a:srgbClr>
                </a:gs>
                <a:gs pos="25000">
                  <a:srgbClr val="FFFFFF">
                    <a:alpha val="1650"/>
                  </a:srgbClr>
                </a:gs>
                <a:gs pos="50000">
                  <a:srgbClr val="FFFFFF">
                    <a:alpha val="1100"/>
                  </a:srgbClr>
                </a:gs>
                <a:gs pos="75000">
                  <a:srgbClr val="FFFFFF">
                    <a:alpha val="1650"/>
                  </a:srgbClr>
                </a:gs>
                <a:gs pos="100000">
                  <a:srgbClr val="FFFFFF">
                    <a:alpha val="11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0980"/>
                </a:srgbClr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11448488" y="6767170"/>
            <a:ext cx="602853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>
            <a:off x="5795540" y="6776695"/>
            <a:ext cx="4768580" cy="0"/>
          </a:xfrm>
          <a:prstGeom prst="line">
            <a:avLst/>
          </a:prstGeom>
          <a:ln w="19050" cap="flat">
            <a:solidFill>
              <a:srgbClr val="0E063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3" name="TextBox 23"/>
          <p:cNvSpPr txBox="1"/>
          <p:nvPr/>
        </p:nvSpPr>
        <p:spPr>
          <a:xfrm>
            <a:off x="6918279" y="1123790"/>
            <a:ext cx="10965928" cy="1065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83"/>
              </a:lnSpc>
            </a:pPr>
            <a:r>
              <a:rPr lang="en-US" sz="7165" spc="-3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WHAT IS ALU?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027226" y="6132043"/>
            <a:ext cx="4375340" cy="635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3"/>
              </a:lnSpc>
            </a:pPr>
            <a:r>
              <a:rPr lang="en-US" sz="4199" b="1" spc="-176">
                <a:solidFill>
                  <a:srgbClr val="0E0637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ALU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515163" y="5987908"/>
            <a:ext cx="5372878" cy="606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96"/>
              </a:lnSpc>
            </a:pPr>
            <a:r>
              <a:rPr lang="en-US" sz="4099" b="1" spc="-172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Operations Supported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66811" y="2691309"/>
            <a:ext cx="10483722" cy="172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5"/>
              </a:lnSpc>
            </a:pPr>
            <a:r>
              <a:rPr lang="en-US" sz="2570" spc="-59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 Arithmetic Logic Unit (ALU) is the main computational component of a processor. It performs arithmetic and logical operations on binary data. In this project, an 8-bit ALU is designed and simulated using digital logic circuits.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06088" y="6974399"/>
            <a:ext cx="5417615" cy="2316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772" lvl="1" indent="-211386" algn="l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ALU stands for Arithmetic Logic Unit.</a:t>
            </a:r>
          </a:p>
          <a:p>
            <a:pPr marL="422772" lvl="1" indent="-211386" algn="l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It is the computational part of a CPU.</a:t>
            </a:r>
          </a:p>
          <a:p>
            <a:pPr marL="422772" lvl="1" indent="-211386" algn="l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Performs arithmetic and logical operations on binary data.</a:t>
            </a:r>
          </a:p>
          <a:p>
            <a:pPr marL="422772" lvl="1" indent="-211386" algn="l">
              <a:lnSpc>
                <a:spcPts val="2663"/>
              </a:lnSpc>
              <a:buFont typeface="Arial"/>
              <a:buChar char="•"/>
            </a:pPr>
            <a:r>
              <a:rPr lang="en-US" sz="1958" spc="-45">
                <a:solidFill>
                  <a:srgbClr val="0E0637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Used in processors, calculators, and embedded systems.</a:t>
            </a:r>
          </a:p>
          <a:p>
            <a:pPr algn="l">
              <a:lnSpc>
                <a:spcPts val="2563"/>
              </a:lnSpc>
            </a:pPr>
            <a:endParaRPr lang="en-US" sz="1958" spc="-45">
              <a:solidFill>
                <a:srgbClr val="0E0637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849497" y="6938620"/>
            <a:ext cx="5094233" cy="2387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Addition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Subtraction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AND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OR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XOR</a:t>
            </a:r>
          </a:p>
          <a:p>
            <a:pPr algn="l">
              <a:lnSpc>
                <a:spcPts val="2747"/>
              </a:lnSpc>
            </a:pPr>
            <a:r>
              <a:rPr lang="en-US" sz="2020" spc="-46">
                <a:solidFill>
                  <a:srgbClr val="FFFFFF"/>
                </a:solidFill>
                <a:latin typeface="Open Sauce Light"/>
                <a:ea typeface="Open Sauce Light"/>
                <a:cs typeface="Open Sauce Light"/>
                <a:sym typeface="Open Sauce Light"/>
              </a:rPr>
              <a:t>NOT</a:t>
            </a:r>
          </a:p>
          <a:p>
            <a:pPr algn="l">
              <a:lnSpc>
                <a:spcPts val="2747"/>
              </a:lnSpc>
            </a:pPr>
            <a:endParaRPr lang="en-US" sz="2020" spc="-46">
              <a:solidFill>
                <a:srgbClr val="FFFFFF"/>
              </a:solidFill>
              <a:latin typeface="Open Sauce Light"/>
              <a:ea typeface="Open Sauce Light"/>
              <a:cs typeface="Open Sauce Light"/>
              <a:sym typeface="Open Sauce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3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4374529"/>
            <a:ext cx="4314825" cy="3948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8-bit Inputs (A and B)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Adder/Subtractor Circuit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Logic Gates (AND, OR, XOR, NOT)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Multiplexer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Output Display</a:t>
            </a:r>
          </a:p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882656" y="4374529"/>
            <a:ext cx="4677138" cy="427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5281" lvl="1" indent="-327640" algn="l">
              <a:lnSpc>
                <a:spcPts val="4249"/>
              </a:lnSpc>
              <a:buFont typeface="Arial"/>
              <a:buChar char="•"/>
            </a:pPr>
            <a:r>
              <a:rPr lang="en-US" sz="30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Inputs A and B are given.</a:t>
            </a:r>
          </a:p>
          <a:p>
            <a:pPr marL="655281" lvl="1" indent="-327640" algn="l">
              <a:lnSpc>
                <a:spcPts val="4249"/>
              </a:lnSpc>
              <a:buFont typeface="Arial"/>
              <a:buChar char="•"/>
            </a:pPr>
            <a:r>
              <a:rPr lang="en-US" sz="30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Select lines choose the operation.</a:t>
            </a:r>
          </a:p>
          <a:p>
            <a:pPr marL="655281" lvl="1" indent="-327640" algn="l">
              <a:lnSpc>
                <a:spcPts val="4249"/>
              </a:lnSpc>
              <a:buFont typeface="Arial"/>
              <a:buChar char="•"/>
            </a:pPr>
            <a:r>
              <a:rPr lang="en-US" sz="303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Multiplexer sends the selected result to the output.</a:t>
            </a:r>
          </a:p>
          <a:p>
            <a:pPr marL="0" lvl="0" indent="0" algn="l">
              <a:lnSpc>
                <a:spcPts val="4249"/>
              </a:lnSpc>
              <a:spcBef>
                <a:spcPct val="0"/>
              </a:spcBef>
            </a:pPr>
            <a:endParaRPr lang="en-US" sz="3035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1866893"/>
            <a:ext cx="4314825" cy="16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80"/>
              </a:lnSpc>
              <a:spcBef>
                <a:spcPct val="0"/>
              </a:spcBef>
            </a:pPr>
            <a:r>
              <a:rPr lang="en-US" sz="54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Components Used 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31581" y="1866893"/>
            <a:ext cx="4314825" cy="838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00"/>
              </a:lnSpc>
              <a:spcBef>
                <a:spcPct val="0"/>
              </a:spcBef>
            </a:pPr>
            <a:r>
              <a:rPr lang="en-US" sz="5500" b="1" i="1">
                <a:solidFill>
                  <a:srgbClr val="FFFFFF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Working:</a:t>
            </a:r>
          </a:p>
        </p:txBody>
      </p:sp>
      <p:grpSp>
        <p:nvGrpSpPr>
          <p:cNvPr id="6" name="Group 6"/>
          <p:cNvGrpSpPr/>
          <p:nvPr/>
        </p:nvGrpSpPr>
        <p:grpSpPr>
          <a:xfrm rot="566727">
            <a:off x="-1761468" y="1879385"/>
            <a:ext cx="11215742" cy="1121574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566727">
            <a:off x="-1214985" y="3922010"/>
            <a:ext cx="8802196" cy="880219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796280" y="0"/>
            <a:ext cx="7491720" cy="10287000"/>
          </a:xfrm>
          <a:custGeom>
            <a:avLst/>
            <a:gdLst/>
            <a:ahLst/>
            <a:cxnLst/>
            <a:rect l="l" t="t" r="r" b="b"/>
            <a:pathLst>
              <a:path w="7491720" h="10287000">
                <a:moveTo>
                  <a:pt x="0" y="0"/>
                </a:moveTo>
                <a:lnTo>
                  <a:pt x="7491720" y="0"/>
                </a:lnTo>
                <a:lnTo>
                  <a:pt x="749172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</a:blip>
            <a:stretch>
              <a:fillRect l="-3380" r="-6670" b="-4166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-9278497">
            <a:off x="13605158" y="5012139"/>
            <a:ext cx="9966661" cy="10047815"/>
            <a:chOff x="0" y="0"/>
            <a:chExt cx="812800" cy="8194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9418"/>
            </a:xfrm>
            <a:custGeom>
              <a:avLst/>
              <a:gdLst/>
              <a:ahLst/>
              <a:cxnLst/>
              <a:rect l="l" t="t" r="r" b="b"/>
              <a:pathLst>
                <a:path w="812800" h="819418">
                  <a:moveTo>
                    <a:pt x="406400" y="0"/>
                  </a:moveTo>
                  <a:cubicBezTo>
                    <a:pt x="181951" y="0"/>
                    <a:pt x="0" y="183433"/>
                    <a:pt x="0" y="409709"/>
                  </a:cubicBezTo>
                  <a:cubicBezTo>
                    <a:pt x="0" y="635985"/>
                    <a:pt x="181951" y="819418"/>
                    <a:pt x="406400" y="819418"/>
                  </a:cubicBezTo>
                  <a:cubicBezTo>
                    <a:pt x="630849" y="819418"/>
                    <a:pt x="812800" y="635985"/>
                    <a:pt x="812800" y="409709"/>
                  </a:cubicBezTo>
                  <a:cubicBezTo>
                    <a:pt x="812800" y="183433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819770"/>
              <a:ext cx="660400" cy="665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C55CD1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2956" y="4737484"/>
            <a:ext cx="8701044" cy="5335229"/>
            <a:chOff x="0" y="0"/>
            <a:chExt cx="3275096" cy="20081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275096" cy="2008194"/>
            </a:xfrm>
            <a:custGeom>
              <a:avLst/>
              <a:gdLst/>
              <a:ahLst/>
              <a:cxnLst/>
              <a:rect l="l" t="t" r="r" b="b"/>
              <a:pathLst>
                <a:path w="3275096" h="2008194">
                  <a:moveTo>
                    <a:pt x="45378" y="0"/>
                  </a:moveTo>
                  <a:lnTo>
                    <a:pt x="3229718" y="0"/>
                  </a:lnTo>
                  <a:cubicBezTo>
                    <a:pt x="3254779" y="0"/>
                    <a:pt x="3275096" y="20317"/>
                    <a:pt x="3275096" y="45378"/>
                  </a:cubicBezTo>
                  <a:lnTo>
                    <a:pt x="3275096" y="1962816"/>
                  </a:lnTo>
                  <a:cubicBezTo>
                    <a:pt x="3275096" y="1974851"/>
                    <a:pt x="3270315" y="1986393"/>
                    <a:pt x="3261805" y="1994903"/>
                  </a:cubicBezTo>
                  <a:cubicBezTo>
                    <a:pt x="3253295" y="2003414"/>
                    <a:pt x="3241753" y="2008194"/>
                    <a:pt x="3229718" y="2008194"/>
                  </a:cubicBezTo>
                  <a:lnTo>
                    <a:pt x="45378" y="2008194"/>
                  </a:lnTo>
                  <a:cubicBezTo>
                    <a:pt x="20317" y="2008194"/>
                    <a:pt x="0" y="1987878"/>
                    <a:pt x="0" y="1962816"/>
                  </a:cubicBezTo>
                  <a:lnTo>
                    <a:pt x="0" y="45378"/>
                  </a:lnTo>
                  <a:cubicBezTo>
                    <a:pt x="0" y="20317"/>
                    <a:pt x="20317" y="0"/>
                    <a:pt x="45378" y="0"/>
                  </a:cubicBezTo>
                  <a:close/>
                </a:path>
              </a:pathLst>
            </a:custGeom>
            <a:solidFill>
              <a:srgbClr val="9245C4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95250"/>
              <a:ext cx="3275096" cy="19129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8" name="Object 18"/>
          <p:cNvGraphicFramePr/>
          <p:nvPr/>
        </p:nvGraphicFramePr>
        <p:xfrm>
          <a:off x="827098" y="5143500"/>
          <a:ext cx="7586157" cy="427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105900" imgH="5791200" progId="Excel.Sheet.12">
                  <p:embed/>
                </p:oleObj>
              </mc:Choice>
              <mc:Fallback>
                <p:oleObj name="Worksheet" r:id="rId3" imgW="9105900" imgH="57912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27098" y="5143500"/>
                        <a:ext cx="7586157" cy="4274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Freeform 19"/>
          <p:cNvSpPr/>
          <p:nvPr/>
        </p:nvSpPr>
        <p:spPr>
          <a:xfrm>
            <a:off x="10481058" y="777847"/>
            <a:ext cx="6778242" cy="7255109"/>
          </a:xfrm>
          <a:custGeom>
            <a:avLst/>
            <a:gdLst/>
            <a:ahLst/>
            <a:cxnLst/>
            <a:rect l="l" t="t" r="r" b="b"/>
            <a:pathLst>
              <a:path w="6778242" h="7255109">
                <a:moveTo>
                  <a:pt x="0" y="0"/>
                </a:moveTo>
                <a:lnTo>
                  <a:pt x="6778242" y="0"/>
                </a:lnTo>
                <a:lnTo>
                  <a:pt x="6778242" y="7255109"/>
                </a:lnTo>
                <a:lnTo>
                  <a:pt x="0" y="725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023" r="-3023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596472" y="1951769"/>
            <a:ext cx="8547528" cy="2084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90"/>
              </a:lnSpc>
            </a:pPr>
            <a:r>
              <a:rPr lang="en-US" sz="7000" spc="-294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Simulation Results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3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6048" y="400050"/>
            <a:ext cx="16873252" cy="111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760"/>
              </a:lnSpc>
              <a:spcBef>
                <a:spcPct val="0"/>
              </a:spcBef>
            </a:pPr>
            <a:r>
              <a:rPr lang="en-US" sz="7300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Application of ALU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89377" y="3641745"/>
            <a:ext cx="16954500" cy="1547457"/>
            <a:chOff x="0" y="0"/>
            <a:chExt cx="22606000" cy="2063276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22606000" cy="2063276"/>
              <a:chOff x="0" y="0"/>
              <a:chExt cx="4465383" cy="407561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465383" cy="407561"/>
              </a:xfrm>
              <a:custGeom>
                <a:avLst/>
                <a:gdLst/>
                <a:ahLst/>
                <a:cxnLst/>
                <a:rect l="l" t="t" r="r" b="b"/>
                <a:pathLst>
                  <a:path w="4465383" h="407561">
                    <a:moveTo>
                      <a:pt x="9133" y="0"/>
                    </a:moveTo>
                    <a:lnTo>
                      <a:pt x="4456250" y="0"/>
                    </a:lnTo>
                    <a:cubicBezTo>
                      <a:pt x="4458672" y="0"/>
                      <a:pt x="4460995" y="962"/>
                      <a:pt x="4462708" y="2675"/>
                    </a:cubicBezTo>
                    <a:cubicBezTo>
                      <a:pt x="4464421" y="4388"/>
                      <a:pt x="4465383" y="6710"/>
                      <a:pt x="4465383" y="9133"/>
                    </a:cubicBezTo>
                    <a:lnTo>
                      <a:pt x="4465383" y="398428"/>
                    </a:lnTo>
                    <a:cubicBezTo>
                      <a:pt x="4465383" y="400850"/>
                      <a:pt x="4464421" y="403173"/>
                      <a:pt x="4462708" y="404886"/>
                    </a:cubicBezTo>
                    <a:cubicBezTo>
                      <a:pt x="4460995" y="406598"/>
                      <a:pt x="4458672" y="407561"/>
                      <a:pt x="4456250" y="407561"/>
                    </a:cubicBezTo>
                    <a:lnTo>
                      <a:pt x="9133" y="407561"/>
                    </a:lnTo>
                    <a:cubicBezTo>
                      <a:pt x="6710" y="407561"/>
                      <a:pt x="4388" y="406598"/>
                      <a:pt x="2675" y="404886"/>
                    </a:cubicBezTo>
                    <a:cubicBezTo>
                      <a:pt x="962" y="403173"/>
                      <a:pt x="0" y="400850"/>
                      <a:pt x="0" y="398428"/>
                    </a:cubicBezTo>
                    <a:lnTo>
                      <a:pt x="0" y="9133"/>
                    </a:lnTo>
                    <a:cubicBezTo>
                      <a:pt x="0" y="6710"/>
                      <a:pt x="962" y="4388"/>
                      <a:pt x="2675" y="2675"/>
                    </a:cubicBezTo>
                    <a:cubicBezTo>
                      <a:pt x="4388" y="962"/>
                      <a:pt x="6710" y="0"/>
                      <a:pt x="913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465383" cy="4456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0" y="504600"/>
              <a:ext cx="17778448" cy="9778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71545" lvl="1" indent="-485773" algn="l">
                <a:lnSpc>
                  <a:spcPts val="6299"/>
                </a:lnSpc>
                <a:buFont typeface="Arial"/>
                <a:buChar char="•"/>
              </a:pPr>
              <a:r>
                <a:rPr lang="en-US" sz="4499">
                  <a:solidFill>
                    <a:srgbClr val="0E063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Digital Computers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14932" y="5291777"/>
            <a:ext cx="17038470" cy="1540509"/>
            <a:chOff x="0" y="0"/>
            <a:chExt cx="22717960" cy="2054012"/>
          </a:xfrm>
        </p:grpSpPr>
        <p:grpSp>
          <p:nvGrpSpPr>
            <p:cNvPr id="9" name="Group 9"/>
            <p:cNvGrpSpPr/>
            <p:nvPr/>
          </p:nvGrpSpPr>
          <p:grpSpPr>
            <a:xfrm>
              <a:off x="111960" y="0"/>
              <a:ext cx="22606000" cy="2054012"/>
              <a:chOff x="0" y="0"/>
              <a:chExt cx="4465383" cy="40573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4465383" cy="405731"/>
              </a:xfrm>
              <a:custGeom>
                <a:avLst/>
                <a:gdLst/>
                <a:ahLst/>
                <a:cxnLst/>
                <a:rect l="l" t="t" r="r" b="b"/>
                <a:pathLst>
                  <a:path w="4465383" h="405731">
                    <a:moveTo>
                      <a:pt x="9133" y="0"/>
                    </a:moveTo>
                    <a:lnTo>
                      <a:pt x="4456250" y="0"/>
                    </a:lnTo>
                    <a:cubicBezTo>
                      <a:pt x="4458672" y="0"/>
                      <a:pt x="4460995" y="962"/>
                      <a:pt x="4462708" y="2675"/>
                    </a:cubicBezTo>
                    <a:cubicBezTo>
                      <a:pt x="4464421" y="4388"/>
                      <a:pt x="4465383" y="6710"/>
                      <a:pt x="4465383" y="9133"/>
                    </a:cubicBezTo>
                    <a:lnTo>
                      <a:pt x="4465383" y="396598"/>
                    </a:lnTo>
                    <a:cubicBezTo>
                      <a:pt x="4465383" y="399020"/>
                      <a:pt x="4464421" y="401343"/>
                      <a:pt x="4462708" y="403056"/>
                    </a:cubicBezTo>
                    <a:cubicBezTo>
                      <a:pt x="4460995" y="404769"/>
                      <a:pt x="4458672" y="405731"/>
                      <a:pt x="4456250" y="405731"/>
                    </a:cubicBezTo>
                    <a:lnTo>
                      <a:pt x="9133" y="405731"/>
                    </a:lnTo>
                    <a:cubicBezTo>
                      <a:pt x="6710" y="405731"/>
                      <a:pt x="4388" y="404769"/>
                      <a:pt x="2675" y="403056"/>
                    </a:cubicBezTo>
                    <a:cubicBezTo>
                      <a:pt x="962" y="401343"/>
                      <a:pt x="0" y="399020"/>
                      <a:pt x="0" y="396598"/>
                    </a:cubicBezTo>
                    <a:lnTo>
                      <a:pt x="0" y="9133"/>
                    </a:lnTo>
                    <a:cubicBezTo>
                      <a:pt x="0" y="6710"/>
                      <a:pt x="962" y="4388"/>
                      <a:pt x="2675" y="2675"/>
                    </a:cubicBezTo>
                    <a:cubicBezTo>
                      <a:pt x="4388" y="962"/>
                      <a:pt x="6710" y="0"/>
                      <a:pt x="913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4465383" cy="4438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0" y="495075"/>
              <a:ext cx="17778448" cy="9781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949956" lvl="1" indent="-474978" algn="l">
                <a:lnSpc>
                  <a:spcPts val="6159"/>
                </a:lnSpc>
                <a:buFont typeface="Arial"/>
                <a:buChar char="•"/>
              </a:pPr>
              <a:r>
                <a:rPr lang="en-US" sz="4399">
                  <a:solidFill>
                    <a:srgbClr val="0E0637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Mobile Phones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6750" y="6981828"/>
            <a:ext cx="16954500" cy="1417954"/>
            <a:chOff x="0" y="0"/>
            <a:chExt cx="4465383" cy="37345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65383" cy="373453"/>
            </a:xfrm>
            <a:custGeom>
              <a:avLst/>
              <a:gdLst/>
              <a:ahLst/>
              <a:cxnLst/>
              <a:rect l="l" t="t" r="r" b="b"/>
              <a:pathLst>
                <a:path w="4465383" h="37345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364320"/>
                  </a:lnTo>
                  <a:cubicBezTo>
                    <a:pt x="4465383" y="366742"/>
                    <a:pt x="4464421" y="369065"/>
                    <a:pt x="4462708" y="370778"/>
                  </a:cubicBezTo>
                  <a:cubicBezTo>
                    <a:pt x="4460995" y="372491"/>
                    <a:pt x="4458672" y="373453"/>
                    <a:pt x="4456250" y="373453"/>
                  </a:cubicBezTo>
                  <a:lnTo>
                    <a:pt x="9133" y="373453"/>
                  </a:lnTo>
                  <a:cubicBezTo>
                    <a:pt x="6710" y="373453"/>
                    <a:pt x="4388" y="372491"/>
                    <a:pt x="2675" y="370778"/>
                  </a:cubicBezTo>
                  <a:cubicBezTo>
                    <a:pt x="962" y="369065"/>
                    <a:pt x="0" y="366742"/>
                    <a:pt x="0" y="36432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85725"/>
              <a:ext cx="4465383" cy="4591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993125" lvl="1" indent="-496562" algn="l">
                <a:lnSpc>
                  <a:spcPts val="6439"/>
                </a:lnSpc>
                <a:buFont typeface="Arial"/>
                <a:buChar char="•"/>
              </a:pPr>
              <a:r>
                <a:rPr lang="en-US" sz="45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Calculators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6750" y="8587423"/>
            <a:ext cx="16954500" cy="1417954"/>
            <a:chOff x="0" y="0"/>
            <a:chExt cx="4465383" cy="3734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65383" cy="373453"/>
            </a:xfrm>
            <a:custGeom>
              <a:avLst/>
              <a:gdLst/>
              <a:ahLst/>
              <a:cxnLst/>
              <a:rect l="l" t="t" r="r" b="b"/>
              <a:pathLst>
                <a:path w="4465383" h="37345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364320"/>
                  </a:lnTo>
                  <a:cubicBezTo>
                    <a:pt x="4465383" y="366742"/>
                    <a:pt x="4464421" y="369065"/>
                    <a:pt x="4462708" y="370778"/>
                  </a:cubicBezTo>
                  <a:cubicBezTo>
                    <a:pt x="4460995" y="372491"/>
                    <a:pt x="4458672" y="373453"/>
                    <a:pt x="4456250" y="373453"/>
                  </a:cubicBezTo>
                  <a:lnTo>
                    <a:pt x="9133" y="373453"/>
                  </a:lnTo>
                  <a:cubicBezTo>
                    <a:pt x="6710" y="373453"/>
                    <a:pt x="4388" y="372491"/>
                    <a:pt x="2675" y="370778"/>
                  </a:cubicBezTo>
                  <a:cubicBezTo>
                    <a:pt x="962" y="369065"/>
                    <a:pt x="0" y="366742"/>
                    <a:pt x="0" y="36432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465383" cy="411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6750" y="8882071"/>
            <a:ext cx="13333836" cy="752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45" lvl="1" indent="-485773" algn="l">
              <a:lnSpc>
                <a:spcPts val="6299"/>
              </a:lnSpc>
              <a:buFont typeface="Arial"/>
              <a:buChar char="•"/>
            </a:pPr>
            <a:r>
              <a:rPr lang="en-US" sz="4499">
                <a:solidFill>
                  <a:srgbClr val="0E0637"/>
                </a:solidFill>
                <a:latin typeface="Canva Sans"/>
                <a:ea typeface="Canva Sans"/>
                <a:cs typeface="Canva Sans"/>
                <a:sym typeface="Canva Sans"/>
              </a:rPr>
              <a:t>Embedded Systems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89377" y="2107568"/>
            <a:ext cx="16954500" cy="1417954"/>
            <a:chOff x="0" y="0"/>
            <a:chExt cx="4465383" cy="3734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65383" cy="373453"/>
            </a:xfrm>
            <a:custGeom>
              <a:avLst/>
              <a:gdLst/>
              <a:ahLst/>
              <a:cxnLst/>
              <a:rect l="l" t="t" r="r" b="b"/>
              <a:pathLst>
                <a:path w="4465383" h="373453">
                  <a:moveTo>
                    <a:pt x="9133" y="0"/>
                  </a:moveTo>
                  <a:lnTo>
                    <a:pt x="4456250" y="0"/>
                  </a:lnTo>
                  <a:cubicBezTo>
                    <a:pt x="4458672" y="0"/>
                    <a:pt x="4460995" y="962"/>
                    <a:pt x="4462708" y="2675"/>
                  </a:cubicBezTo>
                  <a:cubicBezTo>
                    <a:pt x="4464421" y="4388"/>
                    <a:pt x="4465383" y="6710"/>
                    <a:pt x="4465383" y="9133"/>
                  </a:cubicBezTo>
                  <a:lnTo>
                    <a:pt x="4465383" y="364320"/>
                  </a:lnTo>
                  <a:cubicBezTo>
                    <a:pt x="4465383" y="366742"/>
                    <a:pt x="4464421" y="369065"/>
                    <a:pt x="4462708" y="370778"/>
                  </a:cubicBezTo>
                  <a:cubicBezTo>
                    <a:pt x="4460995" y="372491"/>
                    <a:pt x="4458672" y="373453"/>
                    <a:pt x="4456250" y="373453"/>
                  </a:cubicBezTo>
                  <a:lnTo>
                    <a:pt x="9133" y="373453"/>
                  </a:lnTo>
                  <a:cubicBezTo>
                    <a:pt x="6710" y="373453"/>
                    <a:pt x="4388" y="372491"/>
                    <a:pt x="2675" y="370778"/>
                  </a:cubicBezTo>
                  <a:cubicBezTo>
                    <a:pt x="962" y="369065"/>
                    <a:pt x="0" y="366742"/>
                    <a:pt x="0" y="364320"/>
                  </a:cubicBezTo>
                  <a:lnTo>
                    <a:pt x="0" y="9133"/>
                  </a:lnTo>
                  <a:cubicBezTo>
                    <a:pt x="0" y="6710"/>
                    <a:pt x="962" y="4388"/>
                    <a:pt x="2675" y="2675"/>
                  </a:cubicBezTo>
                  <a:cubicBezTo>
                    <a:pt x="4388" y="962"/>
                    <a:pt x="6710" y="0"/>
                    <a:pt x="913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465383" cy="411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66750" y="2393870"/>
            <a:ext cx="11395474" cy="6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89422" lvl="1" indent="-444711" algn="l">
              <a:lnSpc>
                <a:spcPts val="5767"/>
              </a:lnSpc>
              <a:buFont typeface="Arial"/>
              <a:buChar char="•"/>
            </a:pPr>
            <a:r>
              <a:rPr lang="en-US" sz="4119">
                <a:solidFill>
                  <a:srgbClr val="0E0637"/>
                </a:solidFill>
                <a:latin typeface="Canva Sans"/>
                <a:ea typeface="Canva Sans"/>
                <a:cs typeface="Canva Sans"/>
                <a:sym typeface="Canva Sans"/>
              </a:rPr>
              <a:t>CPUs and Microprocessors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3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47403" y="2736493"/>
            <a:ext cx="8106122" cy="9223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Fast calculations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Accurate results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Supports multiple operations in one circuit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Reduces manual calculations.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Essential component of modern processors.</a:t>
            </a:r>
          </a:p>
          <a:p>
            <a:pPr marL="685054" lvl="1" indent="-342527" algn="l">
              <a:lnSpc>
                <a:spcPts val="6346"/>
              </a:lnSpc>
              <a:buFont typeface="Arial"/>
              <a:buChar char="•"/>
            </a:pPr>
            <a:r>
              <a:rPr lang="en-US" sz="3173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Easy to expand to 16-bit, 32-bit, or 64-bit systems.</a:t>
            </a:r>
          </a:p>
          <a:p>
            <a:pPr algn="l">
              <a:lnSpc>
                <a:spcPts val="8545"/>
              </a:lnSpc>
            </a:pPr>
            <a:endParaRPr lang="en-US" sz="3173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8545"/>
              </a:lnSpc>
            </a:pPr>
            <a:endParaRPr lang="en-US" sz="3173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466850" y="1104796"/>
            <a:ext cx="8718604" cy="1158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99"/>
              </a:lnSpc>
              <a:spcBef>
                <a:spcPct val="0"/>
              </a:spcBef>
            </a:pPr>
            <a:r>
              <a:rPr lang="en-US" sz="50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Advantages:</a:t>
            </a:r>
          </a:p>
        </p:txBody>
      </p:sp>
      <p:grpSp>
        <p:nvGrpSpPr>
          <p:cNvPr id="4" name="Group 4"/>
          <p:cNvGrpSpPr/>
          <p:nvPr/>
        </p:nvGrpSpPr>
        <p:grpSpPr>
          <a:xfrm rot="566727">
            <a:off x="-5813505" y="-4112550"/>
            <a:ext cx="11215742" cy="11215742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66727">
            <a:off x="-4652941" y="-2552945"/>
            <a:ext cx="8096532" cy="809653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2100"/>
                  </a:srgbClr>
                </a:gs>
                <a:gs pos="25000">
                  <a:srgbClr val="FFFFFF">
                    <a:alpha val="3000"/>
                  </a:srgbClr>
                </a:gs>
                <a:gs pos="50000">
                  <a:srgbClr val="FFFFFF">
                    <a:alpha val="2000"/>
                  </a:srgbClr>
                </a:gs>
                <a:gs pos="75000">
                  <a:srgbClr val="FFFFFF">
                    <a:alpha val="3000"/>
                  </a:srgbClr>
                </a:gs>
                <a:gs pos="100000">
                  <a:srgbClr val="FFFFFF">
                    <a:alpha val="20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19608"/>
                </a:srgbClr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1671908-2218-19AD-372A-34EDB1224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776" y="-419100"/>
            <a:ext cx="685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36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05025" y="6016616"/>
            <a:ext cx="4419753" cy="27890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54"/>
              </a:lnSpc>
            </a:pPr>
            <a:r>
              <a:rPr lang="en-US" sz="3967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Successfully designed and simulated an 8-bit ALU using Logisim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138988" y="6151886"/>
            <a:ext cx="4010025" cy="252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Performed arithmetic and logical operations correctly.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2366902" y="6026141"/>
            <a:ext cx="4010025" cy="252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Understood the role of ALUs in computer architecture.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5936" y="1584107"/>
            <a:ext cx="14077950" cy="1266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59"/>
              </a:lnSpc>
              <a:spcBef>
                <a:spcPct val="0"/>
              </a:spcBef>
            </a:pPr>
            <a:r>
              <a:rPr lang="en-US" sz="8299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Conclusion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3644900" y="4673600"/>
            <a:ext cx="939800" cy="939800"/>
            <a:chOff x="0" y="0"/>
            <a:chExt cx="1253067" cy="1253067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9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0" y="97494"/>
              <a:ext cx="1253067" cy="850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674100" y="4673600"/>
            <a:ext cx="939800" cy="939800"/>
            <a:chOff x="0" y="0"/>
            <a:chExt cx="1253067" cy="1253067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9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97494"/>
              <a:ext cx="1253067" cy="850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703300" y="4673600"/>
            <a:ext cx="939800" cy="939800"/>
            <a:chOff x="0" y="0"/>
            <a:chExt cx="1253067" cy="1253067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253067" cy="1253067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19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97494"/>
              <a:ext cx="1253067" cy="8507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52"/>
                </a:lnSpc>
              </a:pPr>
              <a:r>
                <a:rPr lang="en-US" sz="3600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 rot="-9278497">
            <a:off x="-5803234" y="-4205483"/>
            <a:ext cx="9966661" cy="9966661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81915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 rot="-9278497">
            <a:off x="-2997112" y="-1545956"/>
            <a:ext cx="5213104" cy="5213104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C55CD1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 rot="-9278497">
            <a:off x="13605158" y="5012139"/>
            <a:ext cx="9966661" cy="10047815"/>
            <a:chOff x="0" y="0"/>
            <a:chExt cx="812800" cy="81941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9418"/>
            </a:xfrm>
            <a:custGeom>
              <a:avLst/>
              <a:gdLst/>
              <a:ahLst/>
              <a:cxnLst/>
              <a:rect l="l" t="t" r="r" b="b"/>
              <a:pathLst>
                <a:path w="812800" h="819418">
                  <a:moveTo>
                    <a:pt x="406400" y="0"/>
                  </a:moveTo>
                  <a:cubicBezTo>
                    <a:pt x="181951" y="0"/>
                    <a:pt x="0" y="183433"/>
                    <a:pt x="0" y="409709"/>
                  </a:cubicBezTo>
                  <a:cubicBezTo>
                    <a:pt x="0" y="635985"/>
                    <a:pt x="181951" y="819418"/>
                    <a:pt x="406400" y="819418"/>
                  </a:cubicBezTo>
                  <a:cubicBezTo>
                    <a:pt x="630849" y="819418"/>
                    <a:pt x="812800" y="635985"/>
                    <a:pt x="812800" y="409709"/>
                  </a:cubicBezTo>
                  <a:cubicBezTo>
                    <a:pt x="812800" y="183433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9245C4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819770"/>
              <a:ext cx="660400" cy="665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9673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-9278497">
            <a:off x="15438586" y="6668025"/>
            <a:ext cx="6254675" cy="6254675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FFFFFF">
                <a:alpha val="12941"/>
              </a:srgbClr>
            </a:solidFill>
            <a:ln w="19050" cap="rnd">
              <a:solidFill>
                <a:srgbClr val="FFFFFF">
                  <a:alpha val="12941"/>
                </a:srgbClr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200" y="171450"/>
              <a:ext cx="660400" cy="5651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grpSp>
        <p:nvGrpSpPr>
          <p:cNvPr id="3" name="Group 3"/>
          <p:cNvGrpSpPr/>
          <p:nvPr/>
        </p:nvGrpSpPr>
        <p:grpSpPr>
          <a:xfrm rot="566727">
            <a:off x="4447463" y="-2040873"/>
            <a:ext cx="17212156" cy="1721215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66727">
            <a:off x="7275014" y="786677"/>
            <a:ext cx="11557056" cy="1155705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735"/>
                  </a:srgbClr>
                </a:gs>
                <a:gs pos="25000">
                  <a:srgbClr val="FFFFFF">
                    <a:alpha val="1050"/>
                  </a:srgbClr>
                </a:gs>
                <a:gs pos="50000">
                  <a:srgbClr val="FFFFFF">
                    <a:alpha val="700"/>
                  </a:srgbClr>
                </a:gs>
                <a:gs pos="75000">
                  <a:srgbClr val="FFFFFF">
                    <a:alpha val="1050"/>
                  </a:srgbClr>
                </a:gs>
                <a:gs pos="100000">
                  <a:srgbClr val="FFFFFF">
                    <a:alpha val="700"/>
                  </a:srgbClr>
                </a:gs>
              </a:gsLst>
              <a:lin ang="2700000"/>
            </a:gradFill>
            <a:ln w="19050" cap="rnd">
              <a:solidFill>
                <a:srgbClr val="FFFFFF">
                  <a:alpha val="6667"/>
                </a:srgbClr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161925"/>
              <a:ext cx="660400" cy="5746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309269" y="3956295"/>
            <a:ext cx="16230600" cy="175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7"/>
              </a:lnSpc>
            </a:pPr>
            <a:r>
              <a:rPr lang="en-US" sz="14578" spc="-685">
                <a:solidFill>
                  <a:srgbClr val="FFFFFF"/>
                </a:solidFill>
                <a:latin typeface="Press Start 2P"/>
                <a:ea typeface="Press Start 2P"/>
                <a:cs typeface="Press Start 2P"/>
                <a:sym typeface="Press Start 2P"/>
              </a:rPr>
              <a:t>Thank You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963892" y="8419352"/>
            <a:ext cx="14196043" cy="1677895"/>
            <a:chOff x="0" y="0"/>
            <a:chExt cx="5343428" cy="6315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43428" cy="631564"/>
            </a:xfrm>
            <a:custGeom>
              <a:avLst/>
              <a:gdLst/>
              <a:ahLst/>
              <a:cxnLst/>
              <a:rect l="l" t="t" r="r" b="b"/>
              <a:pathLst>
                <a:path w="5343428" h="631564">
                  <a:moveTo>
                    <a:pt x="27813" y="0"/>
                  </a:moveTo>
                  <a:lnTo>
                    <a:pt x="5315615" y="0"/>
                  </a:lnTo>
                  <a:cubicBezTo>
                    <a:pt x="5322991" y="0"/>
                    <a:pt x="5330066" y="2930"/>
                    <a:pt x="5335282" y="8146"/>
                  </a:cubicBezTo>
                  <a:cubicBezTo>
                    <a:pt x="5340498" y="13362"/>
                    <a:pt x="5343428" y="20437"/>
                    <a:pt x="5343428" y="27813"/>
                  </a:cubicBezTo>
                  <a:lnTo>
                    <a:pt x="5343428" y="603751"/>
                  </a:lnTo>
                  <a:cubicBezTo>
                    <a:pt x="5343428" y="619112"/>
                    <a:pt x="5330976" y="631564"/>
                    <a:pt x="5315615" y="631564"/>
                  </a:cubicBezTo>
                  <a:lnTo>
                    <a:pt x="27813" y="631564"/>
                  </a:lnTo>
                  <a:cubicBezTo>
                    <a:pt x="12452" y="631564"/>
                    <a:pt x="0" y="619112"/>
                    <a:pt x="0" y="603751"/>
                  </a:cubicBezTo>
                  <a:lnTo>
                    <a:pt x="0" y="27813"/>
                  </a:lnTo>
                  <a:cubicBezTo>
                    <a:pt x="0" y="12452"/>
                    <a:pt x="12452" y="0"/>
                    <a:pt x="2781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10500"/>
                  </a:srgbClr>
                </a:gs>
                <a:gs pos="25000">
                  <a:srgbClr val="FFFFFF">
                    <a:alpha val="15000"/>
                  </a:srgbClr>
                </a:gs>
                <a:gs pos="50000">
                  <a:srgbClr val="FFFFFF">
                    <a:alpha val="10000"/>
                  </a:srgbClr>
                </a:gs>
                <a:gs pos="75000">
                  <a:srgbClr val="FFFFFF">
                    <a:alpha val="15000"/>
                  </a:srgbClr>
                </a:gs>
                <a:gs pos="100000">
                  <a:srgbClr val="FFFFFF">
                    <a:alpha val="10000"/>
                  </a:srgbClr>
                </a:gs>
              </a:gsLst>
              <a:lin ang="2700000"/>
            </a:gra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85725"/>
              <a:ext cx="5343428" cy="545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BY             2620080015   -TAHSEEN UNNISA              2620080048- GALIDEVARA  BHAVYA SREE LAASYA</a:t>
              </a:r>
            </a:p>
            <a:p>
              <a:pPr algn="ctr">
                <a:lnSpc>
                  <a:spcPts val="2218"/>
                </a:lnSpc>
              </a:pPr>
              <a:endParaRPr lang="en-US" sz="2609" spc="-19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endParaRPr>
            </a:p>
            <a:p>
              <a:pPr algn="ctr">
                <a:lnSpc>
                  <a:spcPts val="2218"/>
                </a:lnSpc>
              </a:pPr>
              <a:r>
                <a:rPr lang="en-US" sz="2609" spc="-195">
                  <a:solidFill>
                    <a:srgbClr val="FFFFFF"/>
                  </a:solidFill>
                  <a:latin typeface="Aileron"/>
                  <a:ea typeface="Aileron"/>
                  <a:cs typeface="Aileron"/>
                  <a:sym typeface="Aileron"/>
                </a:rPr>
                <a:t>2620080070  -SARIPELLI  ABHIJNA SRI              2620080083 -MARELLA SRINIKA VAISHNAVI</a:t>
              </a:r>
            </a:p>
            <a:p>
              <a:pPr algn="ctr">
                <a:lnSpc>
                  <a:spcPts val="2218"/>
                </a:lnSpc>
              </a:pPr>
              <a:endParaRPr lang="en-US" sz="2609" spc="-195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endParaRPr>
            </a:p>
            <a:p>
              <a:pPr marL="0" lvl="0" indent="0" algn="ctr">
                <a:lnSpc>
                  <a:spcPts val="2218"/>
                </a:lnSpc>
                <a:spcBef>
                  <a:spcPct val="0"/>
                </a:spcBef>
              </a:pPr>
              <a:r>
                <a:rPr lang="en-US" sz="2609" spc="-195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256</Words>
  <Application>Microsoft Office PowerPoint</Application>
  <PresentationFormat>Custom</PresentationFormat>
  <Paragraphs>60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Aileron</vt:lpstr>
      <vt:lpstr>Calibri</vt:lpstr>
      <vt:lpstr>Arial</vt:lpstr>
      <vt:lpstr>Horizon</vt:lpstr>
      <vt:lpstr>Press Start 2P</vt:lpstr>
      <vt:lpstr>Open Sauce Bold</vt:lpstr>
      <vt:lpstr>Open Sauce Light</vt:lpstr>
      <vt:lpstr>Canva Sans</vt:lpstr>
      <vt:lpstr>Canva Sans Bold Italics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Simulation of an 8-Bit Arithmetic Logic Unit (ALU)</dc:title>
  <dc:creator>SHAIK NAZEER AHMED</dc:creator>
  <cp:lastModifiedBy>SHAIK NAZEER AHMED</cp:lastModifiedBy>
  <cp:revision>2</cp:revision>
  <dcterms:created xsi:type="dcterms:W3CDTF">2006-08-16T00:00:00Z</dcterms:created>
  <dcterms:modified xsi:type="dcterms:W3CDTF">2026-09-11T15:15:45Z</dcterms:modified>
  <dc:identifier>DAHTkdNeLaQ</dc:identifier>
</cp:coreProperties>
</file>