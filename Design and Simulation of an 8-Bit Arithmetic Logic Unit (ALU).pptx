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orizon" charset="1" panose="02000500000000000000"/>
      <p:regular r:id="rId16"/>
    </p:embeddedFont>
    <p:embeddedFont>
      <p:font typeface="Aileron" charset="1" panose="00000500000000000000"/>
      <p:regular r:id="rId17"/>
    </p:embeddedFont>
    <p:embeddedFont>
      <p:font typeface="Press Start 2P" charset="1" panose="00000500000000000000"/>
      <p:regular r:id="rId18"/>
    </p:embeddedFont>
    <p:embeddedFont>
      <p:font typeface="Open Sauce Bold" charset="1" panose="00000800000000000000"/>
      <p:regular r:id="rId19"/>
    </p:embeddedFont>
    <p:embeddedFont>
      <p:font typeface="Open Sauce Light" charset="1" panose="00000400000000000000"/>
      <p:regular r:id="rId20"/>
    </p:embeddedFont>
    <p:embeddedFont>
      <p:font typeface="Canva Sans" charset="1" panose="020B0503030501040103"/>
      <p:regular r:id="rId21"/>
    </p:embeddedFont>
    <p:embeddedFont>
      <p:font typeface="Canva Sans Bold Italics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5336" y="-3626634"/>
            <a:ext cx="17037328" cy="1992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3"/>
              </a:lnSpc>
            </a:pPr>
          </a:p>
          <a:p>
            <a:pPr algn="l">
              <a:lnSpc>
                <a:spcPts val="8323"/>
              </a:lnSpc>
            </a:pPr>
          </a:p>
          <a:p>
            <a:pPr algn="l">
              <a:lnSpc>
                <a:spcPts val="8323"/>
              </a:lnSpc>
            </a:pPr>
          </a:p>
          <a:p>
            <a:pPr algn="l">
              <a:lnSpc>
                <a:spcPts val="8323"/>
              </a:lnSpc>
            </a:pPr>
          </a:p>
          <a:p>
            <a:pPr algn="l">
              <a:lnSpc>
                <a:spcPts val="8323"/>
              </a:lnSpc>
            </a:pPr>
          </a:p>
          <a:p>
            <a:pPr algn="l">
              <a:lnSpc>
                <a:spcPts val="8323"/>
              </a:lnSpc>
            </a:pPr>
          </a:p>
          <a:p>
            <a:pPr algn="l">
              <a:lnSpc>
                <a:spcPts val="6505"/>
              </a:lnSpc>
            </a:pPr>
            <a:r>
              <a:rPr lang="en-US" sz="7564" spc="-35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Design and Simulation of an 8-Bit Arithmetic Logic Unit (ALU)</a:t>
            </a:r>
          </a:p>
          <a:p>
            <a:pPr algn="l">
              <a:lnSpc>
                <a:spcPts val="20244"/>
              </a:lnSpc>
            </a:pPr>
          </a:p>
          <a:p>
            <a:pPr algn="l">
              <a:lnSpc>
                <a:spcPts val="20244"/>
              </a:lnSpc>
            </a:pPr>
          </a:p>
          <a:p>
            <a:pPr algn="l">
              <a:lnSpc>
                <a:spcPts val="20244"/>
              </a:lnSpc>
            </a:pPr>
          </a:p>
          <a:p>
            <a:pPr algn="l">
              <a:lnSpc>
                <a:spcPts val="1803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566727">
            <a:off x="10895260" y="-4368833"/>
            <a:ext cx="11215742" cy="112157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66727">
            <a:off x="12737741" y="-2526351"/>
            <a:ext cx="7530780" cy="75307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C55CD1">
                <a:alpha val="19608"/>
              </a:srgbClr>
            </a:soli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-906529" y="957263"/>
            <a:ext cx="8305297" cy="1905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14135351" y="9310687"/>
            <a:ext cx="8305297" cy="19050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3746010" y="-205843"/>
            <a:ext cx="4561040" cy="2158892"/>
          </a:xfrm>
          <a:custGeom>
            <a:avLst/>
            <a:gdLst/>
            <a:ahLst/>
            <a:cxnLst/>
            <a:rect r="r" b="b" t="t" l="l"/>
            <a:pathLst>
              <a:path h="2158892" w="4561040">
                <a:moveTo>
                  <a:pt x="0" y="0"/>
                </a:moveTo>
                <a:lnTo>
                  <a:pt x="4561040" y="0"/>
                </a:lnTo>
                <a:lnTo>
                  <a:pt x="4561040" y="2158892"/>
                </a:lnTo>
                <a:lnTo>
                  <a:pt x="0" y="2158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9689" y="6766951"/>
            <a:ext cx="7799431" cy="66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  <a:spcBef>
                <a:spcPct val="0"/>
              </a:spcBef>
            </a:pPr>
            <a:r>
              <a:rPr lang="en-US" sz="3809" spc="-285">
                <a:solidFill>
                  <a:srgbClr val="4D2D65"/>
                </a:solidFill>
                <a:latin typeface="Aileron"/>
                <a:ea typeface="Aileron"/>
                <a:cs typeface="Aileron"/>
                <a:sym typeface="Aileron"/>
              </a:rPr>
              <a:t>DESIGN  ~   SIMULATION  ~  VERIFICATION</a:t>
            </a:r>
          </a:p>
        </p:txBody>
      </p:sp>
      <p:sp>
        <p:nvSpPr>
          <p:cNvPr name="AutoShape 14" id="14"/>
          <p:cNvSpPr/>
          <p:nvPr/>
        </p:nvSpPr>
        <p:spPr>
          <a:xfrm>
            <a:off x="591998" y="8992873"/>
            <a:ext cx="0" cy="8305319"/>
          </a:xfrm>
          <a:prstGeom prst="line">
            <a:avLst/>
          </a:prstGeom>
          <a:ln cap="flat" w="666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0399" y="848663"/>
            <a:ext cx="5779094" cy="8736633"/>
            <a:chOff x="0" y="0"/>
            <a:chExt cx="895333" cy="1353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5333" cy="1353533"/>
            </a:xfrm>
            <a:custGeom>
              <a:avLst/>
              <a:gdLst/>
              <a:ahLst/>
              <a:cxnLst/>
              <a:rect r="r" b="b" t="t" l="l"/>
              <a:pathLst>
                <a:path h="1353533" w="895333">
                  <a:moveTo>
                    <a:pt x="53586" y="0"/>
                  </a:moveTo>
                  <a:lnTo>
                    <a:pt x="841747" y="0"/>
                  </a:lnTo>
                  <a:cubicBezTo>
                    <a:pt x="855959" y="0"/>
                    <a:pt x="869589" y="5646"/>
                    <a:pt x="879638" y="15695"/>
                  </a:cubicBezTo>
                  <a:cubicBezTo>
                    <a:pt x="889687" y="25744"/>
                    <a:pt x="895333" y="39374"/>
                    <a:pt x="895333" y="53586"/>
                  </a:cubicBezTo>
                  <a:lnTo>
                    <a:pt x="895333" y="1299947"/>
                  </a:lnTo>
                  <a:cubicBezTo>
                    <a:pt x="895333" y="1314159"/>
                    <a:pt x="889687" y="1327789"/>
                    <a:pt x="879638" y="1337838"/>
                  </a:cubicBezTo>
                  <a:cubicBezTo>
                    <a:pt x="869589" y="1347887"/>
                    <a:pt x="855959" y="1353533"/>
                    <a:pt x="841747" y="1353533"/>
                  </a:cubicBezTo>
                  <a:lnTo>
                    <a:pt x="53586" y="1353533"/>
                  </a:lnTo>
                  <a:cubicBezTo>
                    <a:pt x="39374" y="1353533"/>
                    <a:pt x="25744" y="1347887"/>
                    <a:pt x="15695" y="1337838"/>
                  </a:cubicBezTo>
                  <a:cubicBezTo>
                    <a:pt x="5646" y="1327789"/>
                    <a:pt x="0" y="1314159"/>
                    <a:pt x="0" y="1299947"/>
                  </a:cubicBezTo>
                  <a:lnTo>
                    <a:pt x="0" y="53586"/>
                  </a:lnTo>
                  <a:cubicBezTo>
                    <a:pt x="0" y="39374"/>
                    <a:pt x="5646" y="25744"/>
                    <a:pt x="15695" y="15695"/>
                  </a:cubicBezTo>
                  <a:cubicBezTo>
                    <a:pt x="25744" y="5646"/>
                    <a:pt x="39374" y="0"/>
                    <a:pt x="53586" y="0"/>
                  </a:cubicBezTo>
                  <a:close/>
                </a:path>
              </a:pathLst>
            </a:custGeom>
            <a:blipFill>
              <a:blip r:embed="rId3"/>
              <a:stretch>
                <a:fillRect l="-392" t="0" r="-392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true" rot="-5400000">
            <a:off x="2956852" y="6991105"/>
            <a:ext cx="4029852" cy="798643"/>
          </a:xfrm>
          <a:custGeom>
            <a:avLst/>
            <a:gdLst/>
            <a:ahLst/>
            <a:cxnLst/>
            <a:rect r="r" b="b" t="t" l="l"/>
            <a:pathLst>
              <a:path h="798643" w="4029852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8948515" y="6991105"/>
            <a:ext cx="4029852" cy="798643"/>
          </a:xfrm>
          <a:custGeom>
            <a:avLst/>
            <a:gdLst/>
            <a:ahLst/>
            <a:cxnLst/>
            <a:rect r="r" b="b" t="t" l="l"/>
            <a:pathLst>
              <a:path h="798643" w="4029852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10800000">
            <a:off x="4682729" y="5151555"/>
            <a:ext cx="5725382" cy="1134667"/>
          </a:xfrm>
          <a:custGeom>
            <a:avLst/>
            <a:gdLst/>
            <a:ahLst/>
            <a:cxnLst/>
            <a:rect r="r" b="b" t="t" l="l"/>
            <a:pathLst>
              <a:path h="1134667" w="5725382">
                <a:moveTo>
                  <a:pt x="0" y="1134666"/>
                </a:moveTo>
                <a:lnTo>
                  <a:pt x="5725382" y="1134666"/>
                </a:lnTo>
                <a:lnTo>
                  <a:pt x="5725382" y="0"/>
                </a:lnTo>
                <a:lnTo>
                  <a:pt x="0" y="0"/>
                </a:lnTo>
                <a:lnTo>
                  <a:pt x="0" y="1134666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10674391" y="5134481"/>
            <a:ext cx="6776142" cy="1342908"/>
          </a:xfrm>
          <a:custGeom>
            <a:avLst/>
            <a:gdLst/>
            <a:ahLst/>
            <a:cxnLst/>
            <a:rect r="r" b="b" t="t" l="l"/>
            <a:pathLst>
              <a:path h="1342908" w="6776142">
                <a:moveTo>
                  <a:pt x="0" y="1342908"/>
                </a:moveTo>
                <a:lnTo>
                  <a:pt x="6776142" y="1342908"/>
                </a:lnTo>
                <a:lnTo>
                  <a:pt x="6776142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460491" y="5805935"/>
            <a:ext cx="5508808" cy="3819580"/>
            <a:chOff x="0" y="0"/>
            <a:chExt cx="2073530" cy="1437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3530" cy="1437700"/>
            </a:xfrm>
            <a:custGeom>
              <a:avLst/>
              <a:gdLst/>
              <a:ahLst/>
              <a:cxnLst/>
              <a:rect r="r" b="b" t="t" l="l"/>
              <a:pathLst>
                <a:path h="1437700" w="2073530">
                  <a:moveTo>
                    <a:pt x="71674" y="0"/>
                  </a:moveTo>
                  <a:lnTo>
                    <a:pt x="2001856" y="0"/>
                  </a:lnTo>
                  <a:cubicBezTo>
                    <a:pt x="2020865" y="0"/>
                    <a:pt x="2039096" y="7551"/>
                    <a:pt x="2052537" y="20993"/>
                  </a:cubicBezTo>
                  <a:cubicBezTo>
                    <a:pt x="2065979" y="34434"/>
                    <a:pt x="2073530" y="52665"/>
                    <a:pt x="2073530" y="71674"/>
                  </a:cubicBezTo>
                  <a:lnTo>
                    <a:pt x="2073530" y="1366026"/>
                  </a:lnTo>
                  <a:cubicBezTo>
                    <a:pt x="2073530" y="1385035"/>
                    <a:pt x="2065979" y="1403266"/>
                    <a:pt x="2052537" y="1416707"/>
                  </a:cubicBezTo>
                  <a:cubicBezTo>
                    <a:pt x="2039096" y="1430149"/>
                    <a:pt x="2020865" y="1437700"/>
                    <a:pt x="2001856" y="1437700"/>
                  </a:cubicBezTo>
                  <a:lnTo>
                    <a:pt x="71674" y="1437700"/>
                  </a:lnTo>
                  <a:cubicBezTo>
                    <a:pt x="52665" y="1437700"/>
                    <a:pt x="34434" y="1430149"/>
                    <a:pt x="20993" y="1416707"/>
                  </a:cubicBezTo>
                  <a:cubicBezTo>
                    <a:pt x="7551" y="1403266"/>
                    <a:pt x="0" y="1385035"/>
                    <a:pt x="0" y="1366026"/>
                  </a:cubicBezTo>
                  <a:lnTo>
                    <a:pt x="0" y="71674"/>
                  </a:lnTo>
                  <a:cubicBezTo>
                    <a:pt x="0" y="52665"/>
                    <a:pt x="7551" y="34434"/>
                    <a:pt x="20993" y="20993"/>
                  </a:cubicBezTo>
                  <a:cubicBezTo>
                    <a:pt x="34434" y="7551"/>
                    <a:pt x="52665" y="0"/>
                    <a:pt x="716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C55CD1">
                      <a:alpha val="100000"/>
                    </a:srgbClr>
                  </a:gs>
                  <a:gs pos="100000">
                    <a:srgbClr val="923AC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073530" cy="135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17617" y="5765716"/>
            <a:ext cx="6766590" cy="3819580"/>
            <a:chOff x="0" y="0"/>
            <a:chExt cx="2546962" cy="1437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46962" cy="1437700"/>
            </a:xfrm>
            <a:custGeom>
              <a:avLst/>
              <a:gdLst/>
              <a:ahLst/>
              <a:cxnLst/>
              <a:rect r="r" b="b" t="t" l="l"/>
              <a:pathLst>
                <a:path h="1437700" w="2546962">
                  <a:moveTo>
                    <a:pt x="58351" y="0"/>
                  </a:moveTo>
                  <a:lnTo>
                    <a:pt x="2488611" y="0"/>
                  </a:lnTo>
                  <a:cubicBezTo>
                    <a:pt x="2520837" y="0"/>
                    <a:pt x="2546962" y="26125"/>
                    <a:pt x="2546962" y="58351"/>
                  </a:cubicBezTo>
                  <a:lnTo>
                    <a:pt x="2546962" y="1379349"/>
                  </a:lnTo>
                  <a:cubicBezTo>
                    <a:pt x="2546962" y="1394825"/>
                    <a:pt x="2540814" y="1409666"/>
                    <a:pt x="2529872" y="1420609"/>
                  </a:cubicBezTo>
                  <a:cubicBezTo>
                    <a:pt x="2518929" y="1431552"/>
                    <a:pt x="2504087" y="1437700"/>
                    <a:pt x="2488611" y="1437700"/>
                  </a:cubicBezTo>
                  <a:lnTo>
                    <a:pt x="58351" y="1437700"/>
                  </a:lnTo>
                  <a:cubicBezTo>
                    <a:pt x="42875" y="1437700"/>
                    <a:pt x="28034" y="1431552"/>
                    <a:pt x="17091" y="1420609"/>
                  </a:cubicBezTo>
                  <a:cubicBezTo>
                    <a:pt x="6148" y="1409666"/>
                    <a:pt x="0" y="1394825"/>
                    <a:pt x="0" y="1379349"/>
                  </a:cubicBezTo>
                  <a:lnTo>
                    <a:pt x="0" y="58351"/>
                  </a:lnTo>
                  <a:cubicBezTo>
                    <a:pt x="0" y="42875"/>
                    <a:pt x="6148" y="28034"/>
                    <a:pt x="17091" y="17091"/>
                  </a:cubicBezTo>
                  <a:cubicBezTo>
                    <a:pt x="28034" y="6148"/>
                    <a:pt x="42875" y="0"/>
                    <a:pt x="583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546962" cy="135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9278497">
            <a:off x="12218214" y="-6527792"/>
            <a:ext cx="9966661" cy="99666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448488" y="6767170"/>
            <a:ext cx="602853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5795540" y="6776695"/>
            <a:ext cx="4768580" cy="0"/>
          </a:xfrm>
          <a:prstGeom prst="line">
            <a:avLst/>
          </a:prstGeom>
          <a:ln cap="flat" w="19050">
            <a:solidFill>
              <a:srgbClr val="0E06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6918279" y="1123790"/>
            <a:ext cx="10965928" cy="106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3"/>
              </a:lnSpc>
            </a:pPr>
            <a:r>
              <a:rPr lang="en-US" sz="7165" spc="-3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WHAT IS ALU?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27226" y="6132043"/>
            <a:ext cx="4375340" cy="63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b="true" sz="4199" spc="-176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15163" y="5987908"/>
            <a:ext cx="5372878" cy="60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4099" spc="-17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Operations Supported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132" y="2409651"/>
            <a:ext cx="10483722" cy="1896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67"/>
              </a:lnSpc>
            </a:pPr>
            <a:r>
              <a:rPr lang="en-US" sz="2770" spc="-6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 Arithmetic Logic Unit (ALU) is the main computational component of a processor. It performs arithmetic and logical operations on binary data. In this project, an 8-bit ALU is designed and simulated using digital logic circuits.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06088" y="6974399"/>
            <a:ext cx="5417615" cy="231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2772" indent="-211386" lvl="1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ALU stands for Arithmetic Logic Unit.</a:t>
            </a:r>
          </a:p>
          <a:p>
            <a:pPr algn="l" marL="422772" indent="-211386" lvl="1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It is the computational part of a CPU.</a:t>
            </a:r>
          </a:p>
          <a:p>
            <a:pPr algn="l" marL="422772" indent="-211386" lvl="1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Performs arithmetic and logical operations on binary data.</a:t>
            </a:r>
          </a:p>
          <a:p>
            <a:pPr algn="l" marL="422772" indent="-211386" lvl="1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Used in processors, calculators, and embedded systems.</a:t>
            </a:r>
          </a:p>
          <a:p>
            <a:pPr algn="l">
              <a:lnSpc>
                <a:spcPts val="2563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1849497" y="6938620"/>
            <a:ext cx="5094233" cy="238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Addition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Subtraction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AND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OR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XOR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NOT</a:t>
            </a:r>
          </a:p>
          <a:p>
            <a:pPr algn="l">
              <a:lnSpc>
                <a:spcPts val="274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36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374529"/>
            <a:ext cx="4314825" cy="394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8-bit Inputs (A and B)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Adder/Subtractor Circuit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Logic Gates (AND, OR, XOR, NOT)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Multiplexer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 Display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882656" y="4374529"/>
            <a:ext cx="4677138" cy="427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281" indent="-327640" lvl="1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Inputs A and B are given.</a:t>
            </a:r>
          </a:p>
          <a:p>
            <a:pPr algn="l" marL="655281" indent="-327640" lvl="1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lines choose the operation.</a:t>
            </a:r>
          </a:p>
          <a:p>
            <a:pPr algn="l" marL="655281" indent="-327640" lvl="1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Multiplexer sends the selected result to the output.</a:t>
            </a:r>
          </a:p>
          <a:p>
            <a:pPr algn="l" marL="0" indent="0" lvl="0">
              <a:lnSpc>
                <a:spcPts val="424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66893"/>
            <a:ext cx="4314825" cy="16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Components Used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1581" y="1866893"/>
            <a:ext cx="4314825" cy="83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55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Working:</a:t>
            </a:r>
          </a:p>
        </p:txBody>
      </p:sp>
      <p:grpSp>
        <p:nvGrpSpPr>
          <p:cNvPr name="Group 6" id="6"/>
          <p:cNvGrpSpPr/>
          <p:nvPr/>
        </p:nvGrpSpPr>
        <p:grpSpPr>
          <a:xfrm rot="566727">
            <a:off x="-1761468" y="1879385"/>
            <a:ext cx="11215742" cy="112157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66727">
            <a:off x="-1214985" y="3922010"/>
            <a:ext cx="8802196" cy="88021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796280" y="0"/>
            <a:ext cx="7491720" cy="10287000"/>
          </a:xfrm>
          <a:custGeom>
            <a:avLst/>
            <a:gdLst/>
            <a:ahLst/>
            <a:cxnLst/>
            <a:rect r="r" b="b" t="t" l="l"/>
            <a:pathLst>
              <a:path h="10287000" w="7491720">
                <a:moveTo>
                  <a:pt x="0" y="0"/>
                </a:moveTo>
                <a:lnTo>
                  <a:pt x="7491720" y="0"/>
                </a:lnTo>
                <a:lnTo>
                  <a:pt x="74917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-3380" t="0" r="-6670" b="-416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3605158" y="5012139"/>
            <a:ext cx="9966661" cy="10047815"/>
            <a:chOff x="0" y="0"/>
            <a:chExt cx="812800" cy="819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9418"/>
            </a:xfrm>
            <a:custGeom>
              <a:avLst/>
              <a:gdLst/>
              <a:ahLst/>
              <a:cxnLst/>
              <a:rect r="r" b="b" t="t" l="l"/>
              <a:pathLst>
                <a:path h="819418" w="812800">
                  <a:moveTo>
                    <a:pt x="406400" y="0"/>
                  </a:moveTo>
                  <a:cubicBezTo>
                    <a:pt x="181951" y="0"/>
                    <a:pt x="0" y="183433"/>
                    <a:pt x="0" y="409709"/>
                  </a:cubicBezTo>
                  <a:cubicBezTo>
                    <a:pt x="0" y="635985"/>
                    <a:pt x="181951" y="819418"/>
                    <a:pt x="406400" y="819418"/>
                  </a:cubicBezTo>
                  <a:cubicBezTo>
                    <a:pt x="630849" y="819418"/>
                    <a:pt x="812800" y="635985"/>
                    <a:pt x="812800" y="409709"/>
                  </a:cubicBezTo>
                  <a:cubicBezTo>
                    <a:pt x="812800" y="183433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770"/>
              <a:ext cx="660400" cy="665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C55CD1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2956" y="4737484"/>
            <a:ext cx="8701044" cy="5335229"/>
            <a:chOff x="0" y="0"/>
            <a:chExt cx="3275096" cy="20081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75096" cy="2008194"/>
            </a:xfrm>
            <a:custGeom>
              <a:avLst/>
              <a:gdLst/>
              <a:ahLst/>
              <a:cxnLst/>
              <a:rect r="r" b="b" t="t" l="l"/>
              <a:pathLst>
                <a:path h="2008194" w="3275096">
                  <a:moveTo>
                    <a:pt x="45378" y="0"/>
                  </a:moveTo>
                  <a:lnTo>
                    <a:pt x="3229718" y="0"/>
                  </a:lnTo>
                  <a:cubicBezTo>
                    <a:pt x="3254779" y="0"/>
                    <a:pt x="3275096" y="20317"/>
                    <a:pt x="3275096" y="45378"/>
                  </a:cubicBezTo>
                  <a:lnTo>
                    <a:pt x="3275096" y="1962816"/>
                  </a:lnTo>
                  <a:cubicBezTo>
                    <a:pt x="3275096" y="1974851"/>
                    <a:pt x="3270315" y="1986393"/>
                    <a:pt x="3261805" y="1994903"/>
                  </a:cubicBezTo>
                  <a:cubicBezTo>
                    <a:pt x="3253295" y="2003414"/>
                    <a:pt x="3241753" y="2008194"/>
                    <a:pt x="3229718" y="2008194"/>
                  </a:cubicBezTo>
                  <a:lnTo>
                    <a:pt x="45378" y="2008194"/>
                  </a:lnTo>
                  <a:cubicBezTo>
                    <a:pt x="20317" y="2008194"/>
                    <a:pt x="0" y="1987878"/>
                    <a:pt x="0" y="1962816"/>
                  </a:cubicBezTo>
                  <a:lnTo>
                    <a:pt x="0" y="45378"/>
                  </a:lnTo>
                  <a:cubicBezTo>
                    <a:pt x="0" y="20317"/>
                    <a:pt x="20317" y="0"/>
                    <a:pt x="45378" y="0"/>
                  </a:cubicBezTo>
                  <a:close/>
                </a:path>
              </a:pathLst>
            </a:custGeom>
            <a:solidFill>
              <a:srgbClr val="9245C4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0"/>
              <a:ext cx="3275096" cy="1912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18" id="18"/>
          <p:cNvGraphicFramePr/>
          <p:nvPr/>
        </p:nvGraphicFramePr>
        <p:xfrm>
          <a:off x="827098" y="5143500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19" id="19"/>
          <p:cNvSpPr/>
          <p:nvPr/>
        </p:nvSpPr>
        <p:spPr>
          <a:xfrm flipH="false" flipV="false" rot="0">
            <a:off x="10481058" y="777847"/>
            <a:ext cx="6778242" cy="7255109"/>
          </a:xfrm>
          <a:custGeom>
            <a:avLst/>
            <a:gdLst/>
            <a:ahLst/>
            <a:cxnLst/>
            <a:rect r="r" b="b" t="t" l="l"/>
            <a:pathLst>
              <a:path h="7255109" w="6778242">
                <a:moveTo>
                  <a:pt x="0" y="0"/>
                </a:moveTo>
                <a:lnTo>
                  <a:pt x="6778242" y="0"/>
                </a:lnTo>
                <a:lnTo>
                  <a:pt x="6778242" y="7255109"/>
                </a:lnTo>
                <a:lnTo>
                  <a:pt x="0" y="72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23" t="0" r="-302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6472" y="1951769"/>
            <a:ext cx="8547528" cy="208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7000" spc="-294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Simulation Results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A36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06529" y="957263"/>
            <a:ext cx="8305297" cy="1905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3" id="3"/>
          <p:cNvGrpSpPr/>
          <p:nvPr/>
        </p:nvGrpSpPr>
        <p:grpSpPr>
          <a:xfrm rot="-9278497">
            <a:off x="13605158" y="5012139"/>
            <a:ext cx="9966661" cy="10047815"/>
            <a:chOff x="0" y="0"/>
            <a:chExt cx="812800" cy="819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9418"/>
            </a:xfrm>
            <a:custGeom>
              <a:avLst/>
              <a:gdLst/>
              <a:ahLst/>
              <a:cxnLst/>
              <a:rect r="r" b="b" t="t" l="l"/>
              <a:pathLst>
                <a:path h="819418" w="812800">
                  <a:moveTo>
                    <a:pt x="406400" y="0"/>
                  </a:moveTo>
                  <a:cubicBezTo>
                    <a:pt x="181951" y="0"/>
                    <a:pt x="0" y="183433"/>
                    <a:pt x="0" y="409709"/>
                  </a:cubicBezTo>
                  <a:cubicBezTo>
                    <a:pt x="0" y="635985"/>
                    <a:pt x="181951" y="819418"/>
                    <a:pt x="406400" y="819418"/>
                  </a:cubicBezTo>
                  <a:cubicBezTo>
                    <a:pt x="630849" y="819418"/>
                    <a:pt x="812800" y="635985"/>
                    <a:pt x="812800" y="409709"/>
                  </a:cubicBezTo>
                  <a:cubicBezTo>
                    <a:pt x="812800" y="183433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770"/>
              <a:ext cx="660400" cy="665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0950" y="2944484"/>
            <a:ext cx="3086100" cy="4851812"/>
            <a:chOff x="0" y="0"/>
            <a:chExt cx="812800" cy="12778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277844"/>
            </a:xfrm>
            <a:custGeom>
              <a:avLst/>
              <a:gdLst/>
              <a:ahLst/>
              <a:cxnLst/>
              <a:rect r="r" b="b" t="t" l="l"/>
              <a:pathLst>
                <a:path h="12778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49903"/>
                  </a:lnTo>
                  <a:cubicBezTo>
                    <a:pt x="812800" y="1183835"/>
                    <a:pt x="799321" y="1216377"/>
                    <a:pt x="775327" y="1240371"/>
                  </a:cubicBezTo>
                  <a:cubicBezTo>
                    <a:pt x="751333" y="1264364"/>
                    <a:pt x="718791" y="1277844"/>
                    <a:pt x="684859" y="1277844"/>
                  </a:cubicBezTo>
                  <a:lnTo>
                    <a:pt x="127941" y="1277844"/>
                  </a:lnTo>
                  <a:cubicBezTo>
                    <a:pt x="94009" y="1277844"/>
                    <a:pt x="61467" y="1264364"/>
                    <a:pt x="37473" y="1240371"/>
                  </a:cubicBezTo>
                  <a:cubicBezTo>
                    <a:pt x="13479" y="1216377"/>
                    <a:pt x="0" y="1183835"/>
                    <a:pt x="0" y="114990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D2D65"/>
            </a:solidFill>
            <a:ln w="66675" cap="rnd">
              <a:solidFill>
                <a:srgbClr val="6A367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812800" cy="1192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53775" y="2944484"/>
            <a:ext cx="3086100" cy="4851812"/>
            <a:chOff x="0" y="0"/>
            <a:chExt cx="812800" cy="1277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1277844"/>
            </a:xfrm>
            <a:custGeom>
              <a:avLst/>
              <a:gdLst/>
              <a:ahLst/>
              <a:cxnLst/>
              <a:rect r="r" b="b" t="t" l="l"/>
              <a:pathLst>
                <a:path h="12778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49903"/>
                  </a:lnTo>
                  <a:cubicBezTo>
                    <a:pt x="812800" y="1183835"/>
                    <a:pt x="799321" y="1216377"/>
                    <a:pt x="775327" y="1240371"/>
                  </a:cubicBezTo>
                  <a:cubicBezTo>
                    <a:pt x="751333" y="1264364"/>
                    <a:pt x="718791" y="1277844"/>
                    <a:pt x="684859" y="1277844"/>
                  </a:cubicBezTo>
                  <a:lnTo>
                    <a:pt x="127941" y="1277844"/>
                  </a:lnTo>
                  <a:cubicBezTo>
                    <a:pt x="94009" y="1277844"/>
                    <a:pt x="61467" y="1264364"/>
                    <a:pt x="37473" y="1240371"/>
                  </a:cubicBezTo>
                  <a:cubicBezTo>
                    <a:pt x="13479" y="1216377"/>
                    <a:pt x="0" y="1183835"/>
                    <a:pt x="0" y="114990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D2D65"/>
            </a:solidFill>
            <a:ln w="66675" cap="rnd">
              <a:solidFill>
                <a:srgbClr val="6A367A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812800" cy="1192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47497" y="2944484"/>
            <a:ext cx="3086100" cy="4851812"/>
            <a:chOff x="0" y="0"/>
            <a:chExt cx="812800" cy="12778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277844"/>
            </a:xfrm>
            <a:custGeom>
              <a:avLst/>
              <a:gdLst/>
              <a:ahLst/>
              <a:cxnLst/>
              <a:rect r="r" b="b" t="t" l="l"/>
              <a:pathLst>
                <a:path h="12778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49903"/>
                  </a:lnTo>
                  <a:cubicBezTo>
                    <a:pt x="812800" y="1183835"/>
                    <a:pt x="799321" y="1216377"/>
                    <a:pt x="775327" y="1240371"/>
                  </a:cubicBezTo>
                  <a:cubicBezTo>
                    <a:pt x="751333" y="1264364"/>
                    <a:pt x="718791" y="1277844"/>
                    <a:pt x="684859" y="1277844"/>
                  </a:cubicBezTo>
                  <a:lnTo>
                    <a:pt x="127941" y="1277844"/>
                  </a:lnTo>
                  <a:cubicBezTo>
                    <a:pt x="94009" y="1277844"/>
                    <a:pt x="61467" y="1264364"/>
                    <a:pt x="37473" y="1240371"/>
                  </a:cubicBezTo>
                  <a:cubicBezTo>
                    <a:pt x="13479" y="1216377"/>
                    <a:pt x="0" y="1183835"/>
                    <a:pt x="0" y="114990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D2D65"/>
            </a:solidFill>
            <a:ln w="66675" cap="rnd">
              <a:solidFill>
                <a:srgbClr val="6A367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812800" cy="1192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94672" y="2944484"/>
            <a:ext cx="3086100" cy="4851812"/>
            <a:chOff x="0" y="0"/>
            <a:chExt cx="812800" cy="12778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1277844"/>
            </a:xfrm>
            <a:custGeom>
              <a:avLst/>
              <a:gdLst/>
              <a:ahLst/>
              <a:cxnLst/>
              <a:rect r="r" b="b" t="t" l="l"/>
              <a:pathLst>
                <a:path h="127784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149903"/>
                  </a:lnTo>
                  <a:cubicBezTo>
                    <a:pt x="812800" y="1183835"/>
                    <a:pt x="799321" y="1216377"/>
                    <a:pt x="775327" y="1240371"/>
                  </a:cubicBezTo>
                  <a:cubicBezTo>
                    <a:pt x="751333" y="1264364"/>
                    <a:pt x="718791" y="1277844"/>
                    <a:pt x="684859" y="1277844"/>
                  </a:cubicBezTo>
                  <a:lnTo>
                    <a:pt x="127941" y="1277844"/>
                  </a:lnTo>
                  <a:cubicBezTo>
                    <a:pt x="94009" y="1277844"/>
                    <a:pt x="61467" y="1264364"/>
                    <a:pt x="37473" y="1240371"/>
                  </a:cubicBezTo>
                  <a:cubicBezTo>
                    <a:pt x="13479" y="1216377"/>
                    <a:pt x="0" y="1183835"/>
                    <a:pt x="0" y="114990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D2D65"/>
            </a:solidFill>
            <a:ln w="66675" cap="rnd">
              <a:solidFill>
                <a:srgbClr val="6A367A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812800" cy="1192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706600" y="3059639"/>
            <a:ext cx="3086100" cy="4621502"/>
            <a:chOff x="0" y="0"/>
            <a:chExt cx="812800" cy="12171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217186"/>
            </a:xfrm>
            <a:custGeom>
              <a:avLst/>
              <a:gdLst/>
              <a:ahLst/>
              <a:cxnLst/>
              <a:rect r="r" b="b" t="t" l="l"/>
              <a:pathLst>
                <a:path h="121718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089245"/>
                  </a:lnTo>
                  <a:cubicBezTo>
                    <a:pt x="812800" y="1123177"/>
                    <a:pt x="799321" y="1155719"/>
                    <a:pt x="775327" y="1179713"/>
                  </a:cubicBezTo>
                  <a:cubicBezTo>
                    <a:pt x="751333" y="1203706"/>
                    <a:pt x="718791" y="1217186"/>
                    <a:pt x="684859" y="1217186"/>
                  </a:cubicBezTo>
                  <a:lnTo>
                    <a:pt x="127941" y="1217186"/>
                  </a:lnTo>
                  <a:cubicBezTo>
                    <a:pt x="94009" y="1217186"/>
                    <a:pt x="61467" y="1203706"/>
                    <a:pt x="37473" y="1179713"/>
                  </a:cubicBezTo>
                  <a:cubicBezTo>
                    <a:pt x="13479" y="1155719"/>
                    <a:pt x="0" y="1123177"/>
                    <a:pt x="0" y="108924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D2D65"/>
            </a:solidFill>
            <a:ln w="66675" cap="rnd">
              <a:solidFill>
                <a:srgbClr val="6A367A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85725"/>
              <a:ext cx="812800" cy="1131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60550" y="951256"/>
            <a:ext cx="14246050" cy="115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Circuit Architecture</a:t>
            </a:r>
            <a:r>
              <a:rPr lang="en-US" sz="50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4672" y="3666388"/>
            <a:ext cx="3086100" cy="28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C55CD1"/>
                </a:solidFill>
                <a:latin typeface="Aileron"/>
                <a:ea typeface="Aileron"/>
                <a:cs typeface="Aileron"/>
                <a:sym typeface="Aileron"/>
              </a:rPr>
              <a:t> INPUT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47497" y="3666388"/>
            <a:ext cx="3086100" cy="216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3"/>
              </a:lnSpc>
            </a:pPr>
            <a:r>
              <a:rPr lang="en-US" sz="3309" spc="-248">
                <a:solidFill>
                  <a:srgbClr val="C55CD1"/>
                </a:solidFill>
                <a:latin typeface="Aileron"/>
                <a:ea typeface="Aileron"/>
                <a:cs typeface="Aileron"/>
                <a:sym typeface="Aileron"/>
              </a:rPr>
              <a:t>ARITHMETIC</a:t>
            </a:r>
          </a:p>
          <a:p>
            <a:pPr algn="ctr">
              <a:lnSpc>
                <a:spcPts val="4213"/>
              </a:lnSpc>
            </a:pPr>
          </a:p>
          <a:p>
            <a:pPr algn="ctr">
              <a:lnSpc>
                <a:spcPts val="4213"/>
              </a:lnSpc>
            </a:pPr>
          </a:p>
          <a:p>
            <a:pPr algn="ctr">
              <a:lnSpc>
                <a:spcPts val="4213"/>
              </a:lnSpc>
              <a:spcBef>
                <a:spcPct val="0"/>
              </a:spcBef>
            </a:pPr>
            <a:r>
              <a:rPr lang="en-US" sz="3009" spc="-22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ADD/SUB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00322" y="3666388"/>
            <a:ext cx="3086100" cy="28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C55CD1"/>
                </a:solidFill>
                <a:latin typeface="Aileron"/>
                <a:ea typeface="Aileron"/>
                <a:cs typeface="Aileron"/>
                <a:sym typeface="Aileron"/>
              </a:rPr>
              <a:t> LOGIC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AND   /   OR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XOR  /  NOT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53147" y="3666388"/>
            <a:ext cx="3086100" cy="28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C55CD1"/>
                </a:solidFill>
                <a:latin typeface="Aileron"/>
                <a:ea typeface="Aileron"/>
                <a:cs typeface="Aileron"/>
                <a:sym typeface="Aileron"/>
              </a:rPr>
              <a:t> MUX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SELECT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OPERATIONS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05972" y="3666388"/>
            <a:ext cx="3086100" cy="28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C55CD1"/>
                </a:solidFill>
                <a:latin typeface="Aileron"/>
                <a:ea typeface="Aileron"/>
                <a:cs typeface="Aileron"/>
                <a:sym typeface="Aileron"/>
              </a:rPr>
              <a:t> OUTPUT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  <a:r>
              <a:rPr lang="en-US" sz="3309" spc="-24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RESULT</a:t>
            </a: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  <a:p>
            <a:pPr algn="ctr">
              <a:lnSpc>
                <a:spcPts val="4633"/>
              </a:lnSpc>
              <a:spcBef>
                <a:spcPct val="0"/>
              </a:spcBef>
            </a:pPr>
          </a:p>
        </p:txBody>
      </p:sp>
      <p:sp>
        <p:nvSpPr>
          <p:cNvPr name="AutoShape 30" id="30"/>
          <p:cNvSpPr/>
          <p:nvPr/>
        </p:nvSpPr>
        <p:spPr>
          <a:xfrm flipV="true">
            <a:off x="3580772" y="5104086"/>
            <a:ext cx="816582" cy="3941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7133597" y="5530767"/>
            <a:ext cx="405168" cy="7882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0572760" y="5570860"/>
            <a:ext cx="580097" cy="3941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4149909" y="5649010"/>
            <a:ext cx="658925" cy="3941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6A36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6048" y="400050"/>
            <a:ext cx="16873252" cy="111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760"/>
              </a:lnSpc>
              <a:spcBef>
                <a:spcPct val="0"/>
              </a:spcBef>
            </a:pPr>
            <a:r>
              <a:rPr lang="en-US" sz="73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Application of ALU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9377" y="3641745"/>
            <a:ext cx="16954500" cy="1547457"/>
            <a:chOff x="0" y="0"/>
            <a:chExt cx="22606000" cy="20632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2606000" cy="2063276"/>
              <a:chOff x="0" y="0"/>
              <a:chExt cx="4465383" cy="40756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465383" cy="407561"/>
              </a:xfrm>
              <a:custGeom>
                <a:avLst/>
                <a:gdLst/>
                <a:ahLst/>
                <a:cxnLst/>
                <a:rect r="r" b="b" t="t" l="l"/>
                <a:pathLst>
                  <a:path h="407561" w="4465383">
                    <a:moveTo>
                      <a:pt x="9133" y="0"/>
                    </a:moveTo>
                    <a:lnTo>
                      <a:pt x="4456250" y="0"/>
                    </a:lnTo>
                    <a:cubicBezTo>
                      <a:pt x="4458672" y="0"/>
                      <a:pt x="4460995" y="962"/>
                      <a:pt x="4462708" y="2675"/>
                    </a:cubicBezTo>
                    <a:cubicBezTo>
                      <a:pt x="4464421" y="4388"/>
                      <a:pt x="4465383" y="6710"/>
                      <a:pt x="4465383" y="9133"/>
                    </a:cubicBezTo>
                    <a:lnTo>
                      <a:pt x="4465383" y="398428"/>
                    </a:lnTo>
                    <a:cubicBezTo>
                      <a:pt x="4465383" y="400850"/>
                      <a:pt x="4464421" y="403173"/>
                      <a:pt x="4462708" y="404886"/>
                    </a:cubicBezTo>
                    <a:cubicBezTo>
                      <a:pt x="4460995" y="406598"/>
                      <a:pt x="4458672" y="407561"/>
                      <a:pt x="4456250" y="407561"/>
                    </a:cubicBezTo>
                    <a:lnTo>
                      <a:pt x="9133" y="407561"/>
                    </a:lnTo>
                    <a:cubicBezTo>
                      <a:pt x="6710" y="407561"/>
                      <a:pt x="4388" y="406598"/>
                      <a:pt x="2675" y="404886"/>
                    </a:cubicBezTo>
                    <a:cubicBezTo>
                      <a:pt x="962" y="403173"/>
                      <a:pt x="0" y="400850"/>
                      <a:pt x="0" y="398428"/>
                    </a:cubicBezTo>
                    <a:lnTo>
                      <a:pt x="0" y="9133"/>
                    </a:lnTo>
                    <a:cubicBezTo>
                      <a:pt x="0" y="6710"/>
                      <a:pt x="962" y="4388"/>
                      <a:pt x="2675" y="2675"/>
                    </a:cubicBezTo>
                    <a:cubicBezTo>
                      <a:pt x="4388" y="962"/>
                      <a:pt x="6710" y="0"/>
                      <a:pt x="913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465383" cy="4456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504600"/>
              <a:ext cx="17778448" cy="977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5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0E063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Digital Computers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4932" y="5291777"/>
            <a:ext cx="17038470" cy="1540509"/>
            <a:chOff x="0" y="0"/>
            <a:chExt cx="22717960" cy="205401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11960" y="0"/>
              <a:ext cx="22606000" cy="2054012"/>
              <a:chOff x="0" y="0"/>
              <a:chExt cx="4465383" cy="40573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465383" cy="405731"/>
              </a:xfrm>
              <a:custGeom>
                <a:avLst/>
                <a:gdLst/>
                <a:ahLst/>
                <a:cxnLst/>
                <a:rect r="r" b="b" t="t" l="l"/>
                <a:pathLst>
                  <a:path h="405731" w="4465383">
                    <a:moveTo>
                      <a:pt x="9133" y="0"/>
                    </a:moveTo>
                    <a:lnTo>
                      <a:pt x="4456250" y="0"/>
                    </a:lnTo>
                    <a:cubicBezTo>
                      <a:pt x="4458672" y="0"/>
                      <a:pt x="4460995" y="962"/>
                      <a:pt x="4462708" y="2675"/>
                    </a:cubicBezTo>
                    <a:cubicBezTo>
                      <a:pt x="4464421" y="4388"/>
                      <a:pt x="4465383" y="6710"/>
                      <a:pt x="4465383" y="9133"/>
                    </a:cubicBezTo>
                    <a:lnTo>
                      <a:pt x="4465383" y="396598"/>
                    </a:lnTo>
                    <a:cubicBezTo>
                      <a:pt x="4465383" y="399020"/>
                      <a:pt x="4464421" y="401343"/>
                      <a:pt x="4462708" y="403056"/>
                    </a:cubicBezTo>
                    <a:cubicBezTo>
                      <a:pt x="4460995" y="404769"/>
                      <a:pt x="4458672" y="405731"/>
                      <a:pt x="4456250" y="405731"/>
                    </a:cubicBezTo>
                    <a:lnTo>
                      <a:pt x="9133" y="405731"/>
                    </a:lnTo>
                    <a:cubicBezTo>
                      <a:pt x="6710" y="405731"/>
                      <a:pt x="4388" y="404769"/>
                      <a:pt x="2675" y="403056"/>
                    </a:cubicBezTo>
                    <a:cubicBezTo>
                      <a:pt x="962" y="401343"/>
                      <a:pt x="0" y="399020"/>
                      <a:pt x="0" y="396598"/>
                    </a:cubicBezTo>
                    <a:lnTo>
                      <a:pt x="0" y="9133"/>
                    </a:lnTo>
                    <a:cubicBezTo>
                      <a:pt x="0" y="6710"/>
                      <a:pt x="962" y="4388"/>
                      <a:pt x="2675" y="2675"/>
                    </a:cubicBezTo>
                    <a:cubicBezTo>
                      <a:pt x="4388" y="962"/>
                      <a:pt x="6710" y="0"/>
                      <a:pt x="913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465383" cy="443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495075"/>
              <a:ext cx="17778448" cy="978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49956" indent="-474978" lvl="1">
                <a:lnSpc>
                  <a:spcPts val="6159"/>
                </a:lnSpc>
                <a:buFont typeface="Arial"/>
                <a:buChar char="•"/>
              </a:pPr>
              <a:r>
                <a:rPr lang="en-US" sz="4399">
                  <a:solidFill>
                    <a:srgbClr val="0E063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Mobile Phones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6981828"/>
            <a:ext cx="16954500" cy="1417954"/>
            <a:chOff x="0" y="0"/>
            <a:chExt cx="4465383" cy="3734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5383" cy="373453"/>
            </a:xfrm>
            <a:custGeom>
              <a:avLst/>
              <a:gdLst/>
              <a:ahLst/>
              <a:cxnLst/>
              <a:rect r="r" b="b" t="t" l="l"/>
              <a:pathLst>
                <a:path h="373453" w="446538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4465383" cy="459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993125" indent="-496562" lvl="1">
                <a:lnSpc>
                  <a:spcPts val="6439"/>
                </a:lnSpc>
                <a:buFont typeface="Arial"/>
                <a:buChar char="•"/>
              </a:pPr>
              <a:r>
                <a:rPr lang="en-US" sz="4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Calculators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6750" y="8587423"/>
            <a:ext cx="16954500" cy="1417954"/>
            <a:chOff x="0" y="0"/>
            <a:chExt cx="4465383" cy="3734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65383" cy="373453"/>
            </a:xfrm>
            <a:custGeom>
              <a:avLst/>
              <a:gdLst/>
              <a:ahLst/>
              <a:cxnLst/>
              <a:rect r="r" b="b" t="t" l="l"/>
              <a:pathLst>
                <a:path h="373453" w="446538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465383" cy="411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6750" y="8882071"/>
            <a:ext cx="13333836" cy="75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5" indent="-485773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E0637"/>
                </a:solidFill>
                <a:latin typeface="Canva Sans"/>
                <a:ea typeface="Canva Sans"/>
                <a:cs typeface="Canva Sans"/>
                <a:sym typeface="Canva Sans"/>
              </a:rPr>
              <a:t>Embedded Systems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89377" y="2107568"/>
            <a:ext cx="16954500" cy="1417954"/>
            <a:chOff x="0" y="0"/>
            <a:chExt cx="4465383" cy="3734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65383" cy="373453"/>
            </a:xfrm>
            <a:custGeom>
              <a:avLst/>
              <a:gdLst/>
              <a:ahLst/>
              <a:cxnLst/>
              <a:rect r="r" b="b" t="t" l="l"/>
              <a:pathLst>
                <a:path h="373453" w="446538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465383" cy="411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66750" y="2393870"/>
            <a:ext cx="11395474" cy="6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422" indent="-444711" lvl="1">
              <a:lnSpc>
                <a:spcPts val="5767"/>
              </a:lnSpc>
              <a:buFont typeface="Arial"/>
              <a:buChar char="•"/>
            </a:pPr>
            <a:r>
              <a:rPr lang="en-US" sz="4119">
                <a:solidFill>
                  <a:srgbClr val="0E0637"/>
                </a:solidFill>
                <a:latin typeface="Canva Sans"/>
                <a:ea typeface="Canva Sans"/>
                <a:cs typeface="Canva Sans"/>
                <a:sym typeface="Canva Sans"/>
              </a:rPr>
              <a:t>CPUs and Microprocessors</a:t>
            </a:r>
          </a:p>
        </p:txBody>
      </p:sp>
      <p:grpSp>
        <p:nvGrpSpPr>
          <p:cNvPr name="Group 24" id="24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36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7878" y="2575919"/>
            <a:ext cx="8106122" cy="922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054" indent="-342527" lvl="1">
              <a:lnSpc>
                <a:spcPts val="6346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 calculations</a:t>
            </a:r>
          </a:p>
          <a:p>
            <a:pPr algn="l" marL="685054" indent="-342527" lvl="1">
              <a:lnSpc>
                <a:spcPts val="6346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Accurate results</a:t>
            </a:r>
          </a:p>
          <a:p>
            <a:pPr algn="l" marL="685054" indent="-342527" lvl="1">
              <a:lnSpc>
                <a:spcPts val="6346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Supports multiple operations in one circuit</a:t>
            </a:r>
          </a:p>
          <a:p>
            <a:pPr algn="l" marL="685054" indent="-342527" lvl="1">
              <a:lnSpc>
                <a:spcPts val="6346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Reduces manual calculations.</a:t>
            </a:r>
          </a:p>
          <a:p>
            <a:pPr algn="l" marL="685054" indent="-342527" lvl="1">
              <a:lnSpc>
                <a:spcPts val="6346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Essential component of modern processors.</a:t>
            </a:r>
          </a:p>
          <a:p>
            <a:pPr algn="l" marL="685054" indent="-342527" lvl="1">
              <a:lnSpc>
                <a:spcPts val="6346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Easy to expand to 16-bit, 32-bit, or 64-bit systems.</a:t>
            </a:r>
          </a:p>
          <a:p>
            <a:pPr algn="l">
              <a:lnSpc>
                <a:spcPts val="8545"/>
              </a:lnSpc>
            </a:pPr>
          </a:p>
          <a:p>
            <a:pPr algn="l">
              <a:lnSpc>
                <a:spcPts val="8545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66850" y="1104796"/>
            <a:ext cx="8718604" cy="115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Advantages:</a:t>
            </a:r>
          </a:p>
        </p:txBody>
      </p:sp>
      <p:grpSp>
        <p:nvGrpSpPr>
          <p:cNvPr name="Group 4" id="4"/>
          <p:cNvGrpSpPr/>
          <p:nvPr/>
        </p:nvGrpSpPr>
        <p:grpSpPr>
          <a:xfrm rot="566727">
            <a:off x="-5813505" y="-4112550"/>
            <a:ext cx="11215742" cy="1121574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66727">
            <a:off x="-4652941" y="-2552945"/>
            <a:ext cx="8096532" cy="809653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86270" y="0"/>
            <a:ext cx="8195448" cy="6716860"/>
            <a:chOff x="0" y="0"/>
            <a:chExt cx="940977" cy="7712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0977" cy="771210"/>
            </a:xfrm>
            <a:custGeom>
              <a:avLst/>
              <a:gdLst/>
              <a:ahLst/>
              <a:cxnLst/>
              <a:rect r="r" b="b" t="t" l="l"/>
              <a:pathLst>
                <a:path h="771210" w="940977">
                  <a:moveTo>
                    <a:pt x="313828" y="752141"/>
                  </a:moveTo>
                  <a:cubicBezTo>
                    <a:pt x="362070" y="763654"/>
                    <a:pt x="416914" y="771210"/>
                    <a:pt x="470742" y="771210"/>
                  </a:cubicBezTo>
                  <a:cubicBezTo>
                    <a:pt x="524571" y="771210"/>
                    <a:pt x="576368" y="764733"/>
                    <a:pt x="624101" y="753219"/>
                  </a:cubicBezTo>
                  <a:cubicBezTo>
                    <a:pt x="625118" y="752859"/>
                    <a:pt x="626133" y="752859"/>
                    <a:pt x="627148" y="752500"/>
                  </a:cubicBezTo>
                  <a:cubicBezTo>
                    <a:pt x="806406" y="706445"/>
                    <a:pt x="938438" y="584831"/>
                    <a:pt x="940977" y="443631"/>
                  </a:cubicBezTo>
                  <a:lnTo>
                    <a:pt x="940977" y="0"/>
                  </a:lnTo>
                  <a:lnTo>
                    <a:pt x="0" y="0"/>
                  </a:lnTo>
                  <a:lnTo>
                    <a:pt x="0" y="443302"/>
                  </a:lnTo>
                  <a:cubicBezTo>
                    <a:pt x="2539" y="585550"/>
                    <a:pt x="132539" y="707165"/>
                    <a:pt x="313828" y="752141"/>
                  </a:cubicBezTo>
                  <a:close/>
                </a:path>
              </a:pathLst>
            </a:custGeom>
            <a:solidFill>
              <a:srgbClr val="AA64AA"/>
            </a:solidFill>
            <a:ln w="66675" cap="sq">
              <a:solidFill>
                <a:srgbClr val="6A367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0"/>
              <a:ext cx="940977" cy="548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74924" y="0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36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273840" cy="10710285"/>
          </a:xfrm>
          <a:custGeom>
            <a:avLst/>
            <a:gdLst/>
            <a:ahLst/>
            <a:cxnLst/>
            <a:rect r="r" b="b" t="t" l="l"/>
            <a:pathLst>
              <a:path h="10710285" w="13273840">
                <a:moveTo>
                  <a:pt x="0" y="0"/>
                </a:moveTo>
                <a:lnTo>
                  <a:pt x="13273840" y="0"/>
                </a:lnTo>
                <a:lnTo>
                  <a:pt x="13273840" y="10710285"/>
                </a:lnTo>
                <a:lnTo>
                  <a:pt x="0" y="1071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0" r="0" b="-3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6727">
            <a:off x="14696192" y="7041335"/>
            <a:ext cx="8096532" cy="809653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66727">
            <a:off x="13136587" y="5481730"/>
            <a:ext cx="11215742" cy="112157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685324" y="-20296"/>
            <a:ext cx="6405544" cy="537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7"/>
              </a:lnSpc>
            </a:pPr>
            <a:r>
              <a:rPr lang="en-US" sz="53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LOGISIM CIRCUIT</a:t>
            </a:r>
          </a:p>
          <a:p>
            <a:pPr algn="ctr">
              <a:lnSpc>
                <a:spcPts val="8477"/>
              </a:lnSpc>
            </a:pPr>
            <a:r>
              <a:rPr lang="en-US" sz="53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OF </a:t>
            </a:r>
          </a:p>
          <a:p>
            <a:pPr algn="ctr">
              <a:lnSpc>
                <a:spcPts val="8477"/>
              </a:lnSpc>
            </a:pPr>
            <a:r>
              <a:rPr lang="en-US" sz="53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8-BIT</a:t>
            </a:r>
          </a:p>
          <a:p>
            <a:pPr algn="ctr">
              <a:lnSpc>
                <a:spcPts val="8477"/>
              </a:lnSpc>
              <a:spcBef>
                <a:spcPct val="0"/>
              </a:spcBef>
            </a:pPr>
            <a:r>
              <a:rPr lang="en-US" sz="53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ALU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A36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5049" y="6469276"/>
            <a:ext cx="4419753" cy="278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39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Successfully designed and simulated an 8-bit ALU using Logisim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80050" y="6528346"/>
            <a:ext cx="4010025" cy="25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Performed arithmetic and logical operations correctly.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3275" y="6528346"/>
            <a:ext cx="4010025" cy="25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Understood the role of ALUs in computer architecture.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5936" y="1584107"/>
            <a:ext cx="14077950" cy="126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59"/>
              </a:lnSpc>
              <a:spcBef>
                <a:spcPct val="0"/>
              </a:spcBef>
            </a:pPr>
            <a:r>
              <a:rPr lang="en-US" sz="82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Conclusion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74715" y="4690182"/>
            <a:ext cx="939800" cy="939800"/>
            <a:chOff x="0" y="0"/>
            <a:chExt cx="1253067" cy="12530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97494"/>
              <a:ext cx="1253067" cy="850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8988" y="4690182"/>
            <a:ext cx="939800" cy="939800"/>
            <a:chOff x="0" y="0"/>
            <a:chExt cx="1253067" cy="125306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97494"/>
              <a:ext cx="1253067" cy="850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93886" y="4690182"/>
            <a:ext cx="939800" cy="939800"/>
            <a:chOff x="0" y="0"/>
            <a:chExt cx="1253067" cy="125306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97494"/>
              <a:ext cx="1253067" cy="850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C55CD1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9278497">
            <a:off x="13605158" y="5012139"/>
            <a:ext cx="9966661" cy="10047815"/>
            <a:chOff x="0" y="0"/>
            <a:chExt cx="812800" cy="8194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9418"/>
            </a:xfrm>
            <a:custGeom>
              <a:avLst/>
              <a:gdLst/>
              <a:ahLst/>
              <a:cxnLst/>
              <a:rect r="r" b="b" t="t" l="l"/>
              <a:pathLst>
                <a:path h="819418" w="812800">
                  <a:moveTo>
                    <a:pt x="406400" y="0"/>
                  </a:moveTo>
                  <a:cubicBezTo>
                    <a:pt x="181951" y="0"/>
                    <a:pt x="0" y="183433"/>
                    <a:pt x="0" y="409709"/>
                  </a:cubicBezTo>
                  <a:cubicBezTo>
                    <a:pt x="0" y="635985"/>
                    <a:pt x="181951" y="819418"/>
                    <a:pt x="406400" y="819418"/>
                  </a:cubicBezTo>
                  <a:cubicBezTo>
                    <a:pt x="630849" y="819418"/>
                    <a:pt x="812800" y="635985"/>
                    <a:pt x="812800" y="409709"/>
                  </a:cubicBezTo>
                  <a:cubicBezTo>
                    <a:pt x="812800" y="183433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819770"/>
              <a:ext cx="660400" cy="665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860665" y="4532330"/>
            <a:ext cx="939800" cy="939800"/>
            <a:chOff x="0" y="0"/>
            <a:chExt cx="1253067" cy="1253067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139234"/>
              <a:ext cx="1253067" cy="850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712825" y="6461671"/>
            <a:ext cx="4175280" cy="138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Verified outputs </a:t>
            </a:r>
          </a:p>
          <a:p>
            <a:pPr algn="ctr">
              <a:lnSpc>
                <a:spcPts val="5652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through simulation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566727">
            <a:off x="6219601" y="-543722"/>
            <a:ext cx="17212156" cy="172121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66727">
            <a:off x="8696489" y="1357410"/>
            <a:ext cx="11557056" cy="11557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09269" y="4409768"/>
            <a:ext cx="16230600" cy="175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37"/>
              </a:lnSpc>
            </a:pPr>
            <a:r>
              <a:rPr lang="en-US" sz="14578" spc="-6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045978" y="8298922"/>
            <a:ext cx="14196043" cy="2506682"/>
            <a:chOff x="0" y="0"/>
            <a:chExt cx="5343428" cy="943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43428" cy="943522"/>
            </a:xfrm>
            <a:custGeom>
              <a:avLst/>
              <a:gdLst/>
              <a:ahLst/>
              <a:cxnLst/>
              <a:rect r="r" b="b" t="t" l="l"/>
              <a:pathLst>
                <a:path h="943522" w="5343428">
                  <a:moveTo>
                    <a:pt x="27813" y="0"/>
                  </a:moveTo>
                  <a:lnTo>
                    <a:pt x="5315615" y="0"/>
                  </a:lnTo>
                  <a:cubicBezTo>
                    <a:pt x="5322991" y="0"/>
                    <a:pt x="5330066" y="2930"/>
                    <a:pt x="5335282" y="8146"/>
                  </a:cubicBezTo>
                  <a:cubicBezTo>
                    <a:pt x="5340498" y="13362"/>
                    <a:pt x="5343428" y="20437"/>
                    <a:pt x="5343428" y="27813"/>
                  </a:cubicBezTo>
                  <a:lnTo>
                    <a:pt x="5343428" y="915708"/>
                  </a:lnTo>
                  <a:cubicBezTo>
                    <a:pt x="5343428" y="931069"/>
                    <a:pt x="5330976" y="943522"/>
                    <a:pt x="5315615" y="943522"/>
                  </a:cubicBezTo>
                  <a:lnTo>
                    <a:pt x="27813" y="943522"/>
                  </a:lnTo>
                  <a:cubicBezTo>
                    <a:pt x="12452" y="943522"/>
                    <a:pt x="0" y="931069"/>
                    <a:pt x="0" y="915708"/>
                  </a:cubicBezTo>
                  <a:lnTo>
                    <a:pt x="0" y="27813"/>
                  </a:lnTo>
                  <a:cubicBezTo>
                    <a:pt x="0" y="12452"/>
                    <a:pt x="12452" y="0"/>
                    <a:pt x="278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5343428" cy="85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BY             2620080015   -TAHSEEN UNNISA              2620080048- GALIDEVARA  BHAVYA SREE LAASYA</a:t>
              </a:r>
            </a:p>
            <a:p>
              <a:pPr algn="ctr">
                <a:lnSpc>
                  <a:spcPts val="2218"/>
                </a:lnSpc>
              </a:pPr>
            </a:p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2620080070  -SARIPELLI  ABHIJNA SRI              2620080083 -MARELLA SRINIKA VAISHNAVI</a:t>
              </a:r>
            </a:p>
            <a:p>
              <a:pPr algn="ctr">
                <a:lnSpc>
                  <a:spcPts val="2218"/>
                </a:lnSpc>
              </a:pPr>
            </a:p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2620080067 - PAVAN ADITYA</a:t>
              </a:r>
            </a:p>
            <a:p>
              <a:pPr algn="ctr">
                <a:lnSpc>
                  <a:spcPts val="2218"/>
                </a:lnSpc>
              </a:pPr>
            </a:p>
            <a:p>
              <a:pPr algn="ctr">
                <a:lnSpc>
                  <a:spcPts val="2218"/>
                </a:lnSpc>
              </a:pPr>
            </a:p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906529" y="957263"/>
            <a:ext cx="8305297" cy="19050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>
            <a:off x="-1900366" y="1424977"/>
            <a:ext cx="8305297" cy="19050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DAHTkdNeLaQ</dc:identifier>
  <dcterms:modified xsi:type="dcterms:W3CDTF">2011-08-01T06:04:30Z</dcterms:modified>
  <cp:revision>1</cp:revision>
  <dc:title>Design and Simulation of an 8-Bit Arithmetic Logic Unit (ALU)</dc:title>
</cp:coreProperties>
</file>